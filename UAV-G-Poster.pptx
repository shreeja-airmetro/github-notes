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5" r:id="rId1"/>
  </p:sldMasterIdLst>
  <p:sldIdLst>
    <p:sldId id="259" r:id="rId2"/>
  </p:sldIdLst>
  <p:sldSz cx="30275213" cy="4280376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98" userDrawn="1">
          <p15:clr>
            <a:srgbClr val="A4A3A4"/>
          </p15:clr>
        </p15:guide>
        <p15:guide id="2" pos="2301" userDrawn="1">
          <p15:clr>
            <a:srgbClr val="A4A3A4"/>
          </p15:clr>
        </p15:guide>
        <p15:guide id="3" orient="horz" pos="24118" userDrawn="1">
          <p15:clr>
            <a:srgbClr val="A4A3A4"/>
          </p15:clr>
        </p15:guide>
        <p15:guide id="4" pos="4342" userDrawn="1">
          <p15:clr>
            <a:srgbClr val="A4A3A4"/>
          </p15:clr>
        </p15:guide>
        <p15:guide id="5" pos="4841" userDrawn="1">
          <p15:clr>
            <a:srgbClr val="A4A3A4"/>
          </p15:clr>
        </p15:guide>
        <p15:guide id="6" pos="6859" userDrawn="1">
          <p15:clr>
            <a:srgbClr val="A4A3A4"/>
          </p15:clr>
        </p15:guide>
        <p15:guide id="7" pos="7313" userDrawn="1">
          <p15:clr>
            <a:srgbClr val="A4A3A4"/>
          </p15:clr>
        </p15:guide>
        <p15:guide id="8" pos="9331" userDrawn="1">
          <p15:clr>
            <a:srgbClr val="A4A3A4"/>
          </p15:clr>
        </p15:guide>
        <p15:guide id="9" pos="9808" userDrawn="1">
          <p15:clr>
            <a:srgbClr val="A4A3A4"/>
          </p15:clr>
        </p15:guide>
        <p15:guide id="10" pos="11872" userDrawn="1">
          <p15:clr>
            <a:srgbClr val="A4A3A4"/>
          </p15:clr>
        </p15:guide>
        <p15:guide id="11" pos="12302" userDrawn="1">
          <p15:clr>
            <a:srgbClr val="A4A3A4"/>
          </p15:clr>
        </p15:guide>
        <p15:guide id="12" pos="14321" userDrawn="1">
          <p15:clr>
            <a:srgbClr val="A4A3A4"/>
          </p15:clr>
        </p15:guide>
        <p15:guide id="14" pos="16816" userDrawn="1">
          <p15:clr>
            <a:srgbClr val="A4A3A4"/>
          </p15:clr>
        </p15:guide>
        <p15:guide id="15" pos="14775" userDrawn="1">
          <p15:clr>
            <a:srgbClr val="A4A3A4"/>
          </p15:clr>
        </p15:guide>
        <p15:guide id="16" orient="horz" pos="24708" userDrawn="1">
          <p15:clr>
            <a:srgbClr val="A4A3A4"/>
          </p15:clr>
        </p15:guide>
        <p15:guide id="17" orient="horz" pos="2686" userDrawn="1">
          <p15:clr>
            <a:srgbClr val="A4A3A4"/>
          </p15:clr>
        </p15:guide>
        <p15:guide id="18" orient="horz" pos="18789" userDrawn="1">
          <p15:clr>
            <a:srgbClr val="A4A3A4"/>
          </p15:clr>
        </p15:guide>
        <p15:guide id="19" orient="horz" pos="174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16" d="100"/>
          <a:sy n="16" d="100"/>
        </p:scale>
        <p:origin x="2347" y="43"/>
      </p:cViewPr>
      <p:guideLst>
        <p:guide orient="horz" pos="3298"/>
        <p:guide pos="2301"/>
        <p:guide orient="horz" pos="24118"/>
        <p:guide pos="4342"/>
        <p:guide pos="4841"/>
        <p:guide pos="6859"/>
        <p:guide pos="7313"/>
        <p:guide pos="9331"/>
        <p:guide pos="9808"/>
        <p:guide pos="11872"/>
        <p:guide pos="12302"/>
        <p:guide pos="14321"/>
        <p:guide pos="16816"/>
        <p:guide pos="14775"/>
        <p:guide orient="horz" pos="24708"/>
        <p:guide orient="horz" pos="2686"/>
        <p:guide orient="horz" pos="18789"/>
        <p:guide orient="horz" pos="17496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/>
          <p:cNvSpPr/>
          <p:nvPr userDrawn="1"/>
        </p:nvSpPr>
        <p:spPr>
          <a:xfrm>
            <a:off x="-1" y="3"/>
            <a:ext cx="30464125" cy="42802172"/>
          </a:xfrm>
          <a:prstGeom prst="rect">
            <a:avLst/>
          </a:prstGeom>
          <a:gradFill>
            <a:gsLst>
              <a:gs pos="85000">
                <a:schemeClr val="accent1"/>
              </a:gs>
              <a:gs pos="0">
                <a:schemeClr val="accent2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350"/>
          </a:p>
        </p:txBody>
      </p:sp>
      <p:sp>
        <p:nvSpPr>
          <p:cNvPr id="10" name="Text Box 5"/>
          <p:cNvSpPr txBox="1">
            <a:spLocks noChangeArrowheads="1"/>
          </p:cNvSpPr>
          <p:nvPr userDrawn="1"/>
        </p:nvSpPr>
        <p:spPr bwMode="auto">
          <a:xfrm>
            <a:off x="3538538" y="39263638"/>
            <a:ext cx="6070600" cy="2586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69B4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B2A5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B2A51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400"/>
              </a:spcAft>
              <a:buClrTx/>
              <a:buSzTx/>
              <a:buFontTx/>
              <a:buNone/>
              <a:tabLst/>
            </a:pP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Open Sans" panose="020B0606030504020204" pitchFamily="34" charset="0"/>
              </a:rPr>
              <a:t>Member in </a:t>
            </a:r>
            <a:r>
              <a:rPr kumimoji="0" lang="de-DE" altLang="de-DE" sz="20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Open Sans" panose="020B0606030504020204" pitchFamily="34" charset="0"/>
              </a:rPr>
              <a:t>the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kumimoji="0" lang="de-DE" altLang="de-DE" sz="20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Open Sans" panose="020B0606030504020204" pitchFamily="34" charset="0"/>
              </a:rPr>
              <a:t>network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kumimoji="0" lang="de-DE" altLang="de-DE" sz="20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Open Sans" panose="020B0606030504020204" pitchFamily="34" charset="0"/>
              </a:rPr>
              <a:t>of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Open Sans" panose="020B0606030504020204" pitchFamily="34" charset="0"/>
              </a:rPr>
              <a:t>:</a:t>
            </a: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 Box 6"/>
          <p:cNvSpPr txBox="1">
            <a:spLocks noChangeArrowheads="1"/>
          </p:cNvSpPr>
          <p:nvPr userDrawn="1"/>
        </p:nvSpPr>
        <p:spPr bwMode="auto">
          <a:xfrm>
            <a:off x="10775950" y="39231888"/>
            <a:ext cx="6937375" cy="2617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69B4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B2A5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B2A51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400"/>
              </a:spcAft>
              <a:buClrTx/>
              <a:buSzTx/>
              <a:buFontTx/>
              <a:buNone/>
              <a:tabLst/>
            </a:pPr>
            <a:r>
              <a:rPr kumimoji="0" lang="de-DE" altLang="de-DE" sz="20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Open Sans" panose="020B0606030504020204" pitchFamily="34" charset="0"/>
              </a:rPr>
              <a:t>Funded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kumimoji="0" lang="de-DE" altLang="de-DE" sz="20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Open Sans" panose="020B0606030504020204" pitchFamily="34" charset="0"/>
              </a:rPr>
              <a:t>by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Open Sans" panose="020B0606030504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400"/>
              </a:spcAft>
              <a:buClrTx/>
              <a:buSzTx/>
              <a:buFontTx/>
              <a:buNone/>
              <a:tabLst/>
            </a:pPr>
            <a:endParaRPr kumimoji="0" lang="de-DE" altLang="de-DE" sz="20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400"/>
              </a:spcAft>
              <a:buClrTx/>
              <a:buSzTx/>
              <a:buFontTx/>
              <a:buNone/>
              <a:tabLst/>
            </a:pPr>
            <a:r>
              <a:rPr kumimoji="0" lang="de-DE" altLang="de-DE" sz="3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Open Sans" panose="020B0606030504020204" pitchFamily="34" charset="0"/>
              </a:rPr>
              <a:t>Space </a:t>
            </a:r>
            <a:r>
              <a:rPr kumimoji="0" lang="de-DE" altLang="de-DE" sz="3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Open Sans" panose="020B0606030504020204" pitchFamily="34" charset="0"/>
              </a:rPr>
              <a:t>for</a:t>
            </a:r>
            <a:r>
              <a:rPr kumimoji="0" lang="de-DE" altLang="de-DE" sz="3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kumimoji="0" lang="de-DE" altLang="de-DE" sz="3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Open Sans" panose="020B0606030504020204" pitchFamily="34" charset="0"/>
              </a:rPr>
              <a:t>one</a:t>
            </a:r>
            <a:r>
              <a:rPr kumimoji="0" lang="de-DE" altLang="de-DE" sz="3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kumimoji="0" lang="de-DE" altLang="de-DE" sz="3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Open Sans" panose="020B0606030504020204" pitchFamily="34" charset="0"/>
              </a:rPr>
              <a:t>or</a:t>
            </a:r>
            <a:r>
              <a:rPr kumimoji="0" lang="de-DE" altLang="de-DE" sz="3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kumimoji="0" lang="de-DE" altLang="de-DE" sz="3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Open Sans" panose="020B0606030504020204" pitchFamily="34" charset="0"/>
              </a:rPr>
              <a:t>more</a:t>
            </a:r>
            <a:r>
              <a:rPr kumimoji="0" lang="de-DE" altLang="de-DE" sz="3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kumimoji="0" lang="de-DE" altLang="de-DE" sz="3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Open Sans" panose="020B0606030504020204" pitchFamily="34" charset="0"/>
              </a:rPr>
              <a:t>logos</a:t>
            </a:r>
            <a:r>
              <a:rPr kumimoji="0" lang="de-DE" altLang="de-DE" sz="3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kumimoji="0" lang="de-DE" altLang="de-DE" sz="3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Open Sans" panose="020B0606030504020204" pitchFamily="34" charset="0"/>
              </a:rPr>
              <a:t>of</a:t>
            </a:r>
            <a:r>
              <a:rPr kumimoji="0" lang="de-DE" altLang="de-DE" sz="3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kumimoji="0" lang="de-DE" altLang="de-DE" sz="3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Open Sans" panose="020B0606030504020204" pitchFamily="34" charset="0"/>
              </a:rPr>
              <a:t>your</a:t>
            </a:r>
            <a:r>
              <a:rPr kumimoji="0" lang="de-DE" altLang="de-DE" sz="3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kumimoji="0" lang="de-DE" altLang="de-DE" sz="3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Open Sans" panose="020B0606030504020204" pitchFamily="34" charset="0"/>
              </a:rPr>
              <a:t>funding</a:t>
            </a:r>
            <a:r>
              <a:rPr kumimoji="0" lang="de-DE" altLang="de-DE" sz="3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kumimoji="0" lang="de-DE" altLang="de-DE" sz="3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Open Sans" panose="020B0606030504020204" pitchFamily="34" charset="0"/>
              </a:rPr>
              <a:t>bodies</a:t>
            </a: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ext Box 8"/>
          <p:cNvSpPr txBox="1">
            <a:spLocks noChangeArrowheads="1"/>
          </p:cNvSpPr>
          <p:nvPr userDrawn="1"/>
        </p:nvSpPr>
        <p:spPr bwMode="auto">
          <a:xfrm>
            <a:off x="18689638" y="39263638"/>
            <a:ext cx="7948612" cy="2586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69B4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B2A5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B2A51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de-DE" altLang="de-DE" sz="3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Open Sans" panose="020B0606030504020204" pitchFamily="34" charset="0"/>
              </a:rPr>
            </a:br>
            <a:r>
              <a:rPr kumimoji="0" lang="de-DE" altLang="de-DE" sz="3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Open Sans" panose="020B0606030504020204" pitchFamily="34" charset="0"/>
              </a:rPr>
              <a:t>Secondary</a:t>
            </a:r>
            <a:r>
              <a:rPr kumimoji="0" lang="de-DE" altLang="de-DE" sz="3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Open Sans" panose="020B0606030504020204" pitchFamily="34" charset="0"/>
              </a:rPr>
              <a:t> logo </a:t>
            </a:r>
            <a:r>
              <a:rPr kumimoji="0" lang="de-DE" altLang="de-DE" sz="3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Open Sans" panose="020B0606030504020204" pitchFamily="34" charset="0"/>
              </a:rPr>
              <a:t>of</a:t>
            </a:r>
            <a:r>
              <a:rPr kumimoji="0" lang="de-DE" altLang="de-DE" sz="3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kumimoji="0" lang="de-DE" altLang="de-DE" sz="3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Open Sans" panose="020B0606030504020204" pitchFamily="34" charset="0"/>
              </a:rPr>
              <a:t>the</a:t>
            </a:r>
            <a:r>
              <a:rPr kumimoji="0" lang="de-DE" altLang="de-DE" sz="3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Open Sans" panose="020B0606030504020204" pitchFamily="34" charset="0"/>
              </a:rPr>
              <a:t> TU Dresden </a:t>
            </a:r>
            <a:r>
              <a:rPr kumimoji="0" lang="de-DE" altLang="de-DE" sz="3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Open Sans" panose="020B0606030504020204" pitchFamily="34" charset="0"/>
              </a:rPr>
              <a:t>organizational</a:t>
            </a:r>
            <a:r>
              <a:rPr kumimoji="0" lang="de-DE" altLang="de-DE" sz="3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kumimoji="0" lang="de-DE" altLang="de-DE" sz="3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Open Sans" panose="020B0606030504020204" pitchFamily="34" charset="0"/>
              </a:rPr>
              <a:t>unit</a:t>
            </a: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105" name="Picture 9" descr="TUD_Logo_weiss_228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013" y="1222375"/>
            <a:ext cx="8212137" cy="2382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69B4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B2A5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B2A51"/>
                  </a:outerShdw>
                </a:effectLst>
              </a14:hiddenEffects>
            </a:ext>
          </a:extLst>
        </p:spPr>
      </p:pic>
      <p:pic>
        <p:nvPicPr>
          <p:cNvPr id="8" name="Picture 12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613098" y="39770340"/>
            <a:ext cx="2762035" cy="134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69B4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B2A5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B2A51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59677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uer Kopf + Fu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8"/>
          <p:cNvSpPr>
            <a:spLocks noChangeArrowheads="1"/>
          </p:cNvSpPr>
          <p:nvPr userDrawn="1"/>
        </p:nvSpPr>
        <p:spPr bwMode="auto">
          <a:xfrm>
            <a:off x="0" y="38295263"/>
            <a:ext cx="30338713" cy="4508500"/>
          </a:xfrm>
          <a:prstGeom prst="rect">
            <a:avLst/>
          </a:prstGeom>
          <a:solidFill>
            <a:srgbClr val="0B2A5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algn="ctr">
                <a:solidFill>
                  <a:srgbClr val="0B2A5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B2A51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15" name="Text Box 11"/>
          <p:cNvSpPr txBox="1">
            <a:spLocks noChangeArrowheads="1"/>
          </p:cNvSpPr>
          <p:nvPr userDrawn="1"/>
        </p:nvSpPr>
        <p:spPr bwMode="auto">
          <a:xfrm>
            <a:off x="11979275" y="39709329"/>
            <a:ext cx="6316661" cy="20384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69B4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B2A5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B2A51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400"/>
              </a:spcAft>
              <a:buClrTx/>
              <a:buSzTx/>
              <a:buFontTx/>
              <a:buNone/>
              <a:tabLst/>
            </a:pPr>
            <a:r>
              <a:rPr kumimoji="0" lang="de-DE" altLang="de-DE" sz="2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Open Sans" panose="020B0606030504020204" pitchFamily="34" charset="0"/>
              </a:rPr>
              <a:t>6-7 Feb. 2025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400"/>
              </a:spcAft>
              <a:buClrTx/>
              <a:buSzTx/>
              <a:buFontTx/>
              <a:buNone/>
              <a:tabLst/>
            </a:pPr>
            <a:r>
              <a:rPr kumimoji="0" lang="de-DE" altLang="de-DE" sz="2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Open Sans" panose="020B0606030504020204" pitchFamily="34" charset="0"/>
              </a:rPr>
              <a:t>PCP25 – 4th International Workshop on Point Cloud Processing</a:t>
            </a:r>
            <a:endParaRPr kumimoji="0" lang="de-DE" altLang="de-DE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84" name="Picture 1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3871081" y="39421862"/>
            <a:ext cx="5372700" cy="26133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69B4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B2A5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B2A51"/>
                  </a:outerShdw>
                </a:effectLst>
              </a14:hiddenEffects>
            </a:ext>
          </a:extLst>
        </p:spPr>
      </p:pic>
      <p:sp>
        <p:nvSpPr>
          <p:cNvPr id="17" name="Rectangle 14"/>
          <p:cNvSpPr>
            <a:spLocks noChangeArrowheads="1"/>
          </p:cNvSpPr>
          <p:nvPr userDrawn="1"/>
        </p:nvSpPr>
        <p:spPr bwMode="auto">
          <a:xfrm>
            <a:off x="1588" y="1588"/>
            <a:ext cx="30275212" cy="5038725"/>
          </a:xfrm>
          <a:prstGeom prst="rect">
            <a:avLst/>
          </a:prstGeom>
          <a:solidFill>
            <a:srgbClr val="0B2A5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algn="ctr">
                <a:solidFill>
                  <a:srgbClr val="0B2A5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B2A51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700" b="0" i="0" u="none" strike="noStrike" cap="none" normalizeH="0" baseline="0">
                <a:ln>
                  <a:noFill/>
                </a:ln>
                <a:solidFill>
                  <a:srgbClr val="0B2A51"/>
                </a:solidFill>
                <a:effectLst/>
                <a:latin typeface="Open Sans" panose="020B0606030504020204" pitchFamily="34" charset="0"/>
              </a:rPr>
              <a:t> </a:t>
            </a: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87" name="Picture 15" descr="TUD_Logo_weiss_228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188" y="1225550"/>
            <a:ext cx="8212137" cy="2382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69B4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B2A5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B2A51"/>
                  </a:outerShdw>
                </a:effectLst>
              </a14:hiddenEffects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207A732-DEC9-4E15-B068-F2D270EF2BC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31432" y="39242818"/>
            <a:ext cx="2566721" cy="2613389"/>
          </a:xfrm>
          <a:prstGeom prst="rect">
            <a:avLst/>
          </a:prstGeom>
        </p:spPr>
      </p:pic>
      <p:sp>
        <p:nvSpPr>
          <p:cNvPr id="10" name="Text Box 11">
            <a:extLst>
              <a:ext uri="{FF2B5EF4-FFF2-40B4-BE49-F238E27FC236}">
                <a16:creationId xmlns:a16="http://schemas.microsoft.com/office/drawing/2014/main" id="{D0C2AAEF-A1B4-4902-935A-AD2522495ED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598153" y="39709328"/>
            <a:ext cx="5580062" cy="16803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69B4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B2A5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B2A51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400"/>
              </a:spcAft>
              <a:buClrTx/>
              <a:buSzTx/>
              <a:buFontTx/>
              <a:buNone/>
              <a:tabLst/>
            </a:pPr>
            <a:endParaRPr kumimoji="0" lang="de-DE" altLang="de-DE" sz="24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Open Sans" panose="020B0606030504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400"/>
              </a:spcAft>
              <a:buClrTx/>
              <a:buSzTx/>
              <a:buFontTx/>
              <a:buNone/>
              <a:tabLst/>
            </a:pPr>
            <a:r>
              <a:rPr kumimoji="0" lang="de-DE" altLang="de-DE" sz="2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Open Sans" panose="020B0606030504020204" pitchFamily="34" charset="0"/>
              </a:rPr>
              <a:t>Contact JP Geosensorsysteme</a:t>
            </a:r>
            <a:br>
              <a:rPr kumimoji="0" lang="de-DE" altLang="de-DE" sz="2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Open Sans" panose="020B0606030504020204" pitchFamily="34" charset="0"/>
              </a:rPr>
            </a:br>
            <a:r>
              <a:rPr kumimoji="0" lang="de-DE" altLang="de-DE" sz="2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Open Sans" panose="020B0606030504020204" pitchFamily="34" charset="0"/>
              </a:rPr>
              <a:t>TU Dresden</a:t>
            </a:r>
            <a:endParaRPr kumimoji="0" lang="de-DE" altLang="de-DE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B37718-88B0-4E3D-8F7D-62A01BC2E26C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1622580" y="1329531"/>
            <a:ext cx="7338779" cy="2382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736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4"/>
          <p:cNvSpPr txBox="1">
            <a:spLocks noChangeArrowheads="1"/>
          </p:cNvSpPr>
          <p:nvPr userDrawn="1"/>
        </p:nvSpPr>
        <p:spPr bwMode="auto">
          <a:xfrm>
            <a:off x="3663950" y="39268400"/>
            <a:ext cx="6070600" cy="423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69B4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B2A5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B2A51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400"/>
              </a:spcAft>
              <a:buClrTx/>
              <a:buSzTx/>
              <a:buFontTx/>
              <a:buNone/>
              <a:tabLst/>
            </a:pP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rgbClr val="0B2A51"/>
                </a:solidFill>
                <a:effectLst/>
                <a:latin typeface="Open Sans" panose="020B0606030504020204" pitchFamily="34" charset="0"/>
              </a:rPr>
              <a:t>Member in </a:t>
            </a:r>
            <a:r>
              <a:rPr kumimoji="0" lang="de-DE" altLang="de-DE" sz="2000" b="0" i="0" u="none" strike="noStrike" cap="none" normalizeH="0" baseline="0" dirty="0" err="1">
                <a:ln>
                  <a:noFill/>
                </a:ln>
                <a:solidFill>
                  <a:srgbClr val="0B2A51"/>
                </a:solidFill>
                <a:effectLst/>
                <a:latin typeface="Open Sans" panose="020B0606030504020204" pitchFamily="34" charset="0"/>
              </a:rPr>
              <a:t>the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rgbClr val="0B2A51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kumimoji="0" lang="de-DE" altLang="de-DE" sz="2000" b="0" i="0" u="none" strike="noStrike" cap="none" normalizeH="0" baseline="0" dirty="0" err="1">
                <a:ln>
                  <a:noFill/>
                </a:ln>
                <a:solidFill>
                  <a:srgbClr val="0B2A51"/>
                </a:solidFill>
                <a:effectLst/>
                <a:latin typeface="Open Sans" panose="020B0606030504020204" pitchFamily="34" charset="0"/>
              </a:rPr>
              <a:t>network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rgbClr val="0B2A51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kumimoji="0" lang="de-DE" altLang="de-DE" sz="2000" b="0" i="0" u="none" strike="noStrike" cap="none" normalizeH="0" baseline="0" dirty="0" err="1">
                <a:ln>
                  <a:noFill/>
                </a:ln>
                <a:solidFill>
                  <a:srgbClr val="0B2A51"/>
                </a:solidFill>
                <a:effectLst/>
                <a:latin typeface="Open Sans" panose="020B0606030504020204" pitchFamily="34" charset="0"/>
              </a:rPr>
              <a:t>of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rgbClr val="0B2A51"/>
                </a:solidFill>
                <a:effectLst/>
                <a:latin typeface="Open Sans" panose="020B0606030504020204" pitchFamily="34" charset="0"/>
              </a:rPr>
              <a:t>:</a:t>
            </a: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" name="Picture 7" descr="TUD_Logo_HKS41_228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425" y="1227138"/>
            <a:ext cx="8212138" cy="2382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69B4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B2A5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B2A51"/>
                  </a:outerShdw>
                </a:effectLst>
              </a14:hiddenEffects>
            </a:ext>
          </a:extLst>
        </p:spPr>
      </p:pic>
      <p:pic>
        <p:nvPicPr>
          <p:cNvPr id="5" name="Picture 8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35052" y="39728775"/>
            <a:ext cx="2934860" cy="1428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69B4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B2A5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B2A51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82175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6" r:id="rId2"/>
  </p:sldLayoutIdLst>
  <p:txStyles>
    <p:titleStyle>
      <a:lvl1pPr algn="l" defTabSz="2270638" rtl="0" eaLnBrk="1" latinLnBrk="0" hangingPunct="1">
        <a:lnSpc>
          <a:spcPct val="90000"/>
        </a:lnSpc>
        <a:spcBef>
          <a:spcPct val="0"/>
        </a:spcBef>
        <a:buNone/>
        <a:defRPr sz="1092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67660" indent="-567660" algn="l" defTabSz="2270638" rtl="0" eaLnBrk="1" latinLnBrk="0" hangingPunct="1">
        <a:lnSpc>
          <a:spcPct val="90000"/>
        </a:lnSpc>
        <a:spcBef>
          <a:spcPts val="2483"/>
        </a:spcBef>
        <a:buFont typeface="Arial" panose="020B0604020202020204" pitchFamily="34" charset="0"/>
        <a:buChar char="•"/>
        <a:defRPr sz="6953" kern="1200">
          <a:solidFill>
            <a:schemeClr val="tx1"/>
          </a:solidFill>
          <a:latin typeface="+mn-lt"/>
          <a:ea typeface="+mn-ea"/>
          <a:cs typeface="+mn-cs"/>
        </a:defRPr>
      </a:lvl1pPr>
      <a:lvl2pPr marL="1702979" indent="-567660" algn="l" defTabSz="2270638" rtl="0" eaLnBrk="1" latinLnBrk="0" hangingPunct="1">
        <a:lnSpc>
          <a:spcPct val="90000"/>
        </a:lnSpc>
        <a:spcBef>
          <a:spcPts val="1242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2pPr>
      <a:lvl3pPr marL="2838298" indent="-567660" algn="l" defTabSz="2270638" rtl="0" eaLnBrk="1" latinLnBrk="0" hangingPunct="1">
        <a:lnSpc>
          <a:spcPct val="90000"/>
        </a:lnSpc>
        <a:spcBef>
          <a:spcPts val="1242"/>
        </a:spcBef>
        <a:buFont typeface="Arial" panose="020B0604020202020204" pitchFamily="34" charset="0"/>
        <a:buChar char="•"/>
        <a:defRPr sz="4966" kern="1200">
          <a:solidFill>
            <a:schemeClr val="tx1"/>
          </a:solidFill>
          <a:latin typeface="+mn-lt"/>
          <a:ea typeface="+mn-ea"/>
          <a:cs typeface="+mn-cs"/>
        </a:defRPr>
      </a:lvl3pPr>
      <a:lvl4pPr marL="3973617" indent="-567660" algn="l" defTabSz="2270638" rtl="0" eaLnBrk="1" latinLnBrk="0" hangingPunct="1">
        <a:lnSpc>
          <a:spcPct val="90000"/>
        </a:lnSpc>
        <a:spcBef>
          <a:spcPts val="1242"/>
        </a:spcBef>
        <a:buFont typeface="Arial" panose="020B0604020202020204" pitchFamily="34" charset="0"/>
        <a:buChar char="•"/>
        <a:defRPr sz="4470" kern="1200">
          <a:solidFill>
            <a:schemeClr val="tx1"/>
          </a:solidFill>
          <a:latin typeface="+mn-lt"/>
          <a:ea typeface="+mn-ea"/>
          <a:cs typeface="+mn-cs"/>
        </a:defRPr>
      </a:lvl4pPr>
      <a:lvl5pPr marL="5108936" indent="-567660" algn="l" defTabSz="2270638" rtl="0" eaLnBrk="1" latinLnBrk="0" hangingPunct="1">
        <a:lnSpc>
          <a:spcPct val="90000"/>
        </a:lnSpc>
        <a:spcBef>
          <a:spcPts val="1242"/>
        </a:spcBef>
        <a:buFont typeface="Arial" panose="020B0604020202020204" pitchFamily="34" charset="0"/>
        <a:buChar char="•"/>
        <a:defRPr sz="4470" kern="1200">
          <a:solidFill>
            <a:schemeClr val="tx1"/>
          </a:solidFill>
          <a:latin typeface="+mn-lt"/>
          <a:ea typeface="+mn-ea"/>
          <a:cs typeface="+mn-cs"/>
        </a:defRPr>
      </a:lvl5pPr>
      <a:lvl6pPr marL="6244255" indent="-567660" algn="l" defTabSz="2270638" rtl="0" eaLnBrk="1" latinLnBrk="0" hangingPunct="1">
        <a:lnSpc>
          <a:spcPct val="90000"/>
        </a:lnSpc>
        <a:spcBef>
          <a:spcPts val="1242"/>
        </a:spcBef>
        <a:buFont typeface="Arial" panose="020B0604020202020204" pitchFamily="34" charset="0"/>
        <a:buChar char="•"/>
        <a:defRPr sz="4470" kern="1200">
          <a:solidFill>
            <a:schemeClr val="tx1"/>
          </a:solidFill>
          <a:latin typeface="+mn-lt"/>
          <a:ea typeface="+mn-ea"/>
          <a:cs typeface="+mn-cs"/>
        </a:defRPr>
      </a:lvl6pPr>
      <a:lvl7pPr marL="7379574" indent="-567660" algn="l" defTabSz="2270638" rtl="0" eaLnBrk="1" latinLnBrk="0" hangingPunct="1">
        <a:lnSpc>
          <a:spcPct val="90000"/>
        </a:lnSpc>
        <a:spcBef>
          <a:spcPts val="1242"/>
        </a:spcBef>
        <a:buFont typeface="Arial" panose="020B0604020202020204" pitchFamily="34" charset="0"/>
        <a:buChar char="•"/>
        <a:defRPr sz="4470" kern="1200">
          <a:solidFill>
            <a:schemeClr val="tx1"/>
          </a:solidFill>
          <a:latin typeface="+mn-lt"/>
          <a:ea typeface="+mn-ea"/>
          <a:cs typeface="+mn-cs"/>
        </a:defRPr>
      </a:lvl7pPr>
      <a:lvl8pPr marL="8514893" indent="-567660" algn="l" defTabSz="2270638" rtl="0" eaLnBrk="1" latinLnBrk="0" hangingPunct="1">
        <a:lnSpc>
          <a:spcPct val="90000"/>
        </a:lnSpc>
        <a:spcBef>
          <a:spcPts val="1242"/>
        </a:spcBef>
        <a:buFont typeface="Arial" panose="020B0604020202020204" pitchFamily="34" charset="0"/>
        <a:buChar char="•"/>
        <a:defRPr sz="4470" kern="1200">
          <a:solidFill>
            <a:schemeClr val="tx1"/>
          </a:solidFill>
          <a:latin typeface="+mn-lt"/>
          <a:ea typeface="+mn-ea"/>
          <a:cs typeface="+mn-cs"/>
        </a:defRPr>
      </a:lvl8pPr>
      <a:lvl9pPr marL="9650212" indent="-567660" algn="l" defTabSz="2270638" rtl="0" eaLnBrk="1" latinLnBrk="0" hangingPunct="1">
        <a:lnSpc>
          <a:spcPct val="90000"/>
        </a:lnSpc>
        <a:spcBef>
          <a:spcPts val="1242"/>
        </a:spcBef>
        <a:buFont typeface="Arial" panose="020B0604020202020204" pitchFamily="34" charset="0"/>
        <a:buChar char="•"/>
        <a:defRPr sz="44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2270638" rtl="0" eaLnBrk="1" latinLnBrk="0" hangingPunct="1">
        <a:defRPr sz="4470" kern="1200">
          <a:solidFill>
            <a:schemeClr val="tx1"/>
          </a:solidFill>
          <a:latin typeface="+mn-lt"/>
          <a:ea typeface="+mn-ea"/>
          <a:cs typeface="+mn-cs"/>
        </a:defRPr>
      </a:lvl1pPr>
      <a:lvl2pPr marL="1135319" algn="l" defTabSz="2270638" rtl="0" eaLnBrk="1" latinLnBrk="0" hangingPunct="1">
        <a:defRPr sz="4470" kern="1200">
          <a:solidFill>
            <a:schemeClr val="tx1"/>
          </a:solidFill>
          <a:latin typeface="+mn-lt"/>
          <a:ea typeface="+mn-ea"/>
          <a:cs typeface="+mn-cs"/>
        </a:defRPr>
      </a:lvl2pPr>
      <a:lvl3pPr marL="2270638" algn="l" defTabSz="2270638" rtl="0" eaLnBrk="1" latinLnBrk="0" hangingPunct="1">
        <a:defRPr sz="4470" kern="1200">
          <a:solidFill>
            <a:schemeClr val="tx1"/>
          </a:solidFill>
          <a:latin typeface="+mn-lt"/>
          <a:ea typeface="+mn-ea"/>
          <a:cs typeface="+mn-cs"/>
        </a:defRPr>
      </a:lvl3pPr>
      <a:lvl4pPr marL="3405957" algn="l" defTabSz="2270638" rtl="0" eaLnBrk="1" latinLnBrk="0" hangingPunct="1">
        <a:defRPr sz="4470" kern="1200">
          <a:solidFill>
            <a:schemeClr val="tx1"/>
          </a:solidFill>
          <a:latin typeface="+mn-lt"/>
          <a:ea typeface="+mn-ea"/>
          <a:cs typeface="+mn-cs"/>
        </a:defRPr>
      </a:lvl4pPr>
      <a:lvl5pPr marL="4541276" algn="l" defTabSz="2270638" rtl="0" eaLnBrk="1" latinLnBrk="0" hangingPunct="1">
        <a:defRPr sz="4470" kern="1200">
          <a:solidFill>
            <a:schemeClr val="tx1"/>
          </a:solidFill>
          <a:latin typeface="+mn-lt"/>
          <a:ea typeface="+mn-ea"/>
          <a:cs typeface="+mn-cs"/>
        </a:defRPr>
      </a:lvl5pPr>
      <a:lvl6pPr marL="5676595" algn="l" defTabSz="2270638" rtl="0" eaLnBrk="1" latinLnBrk="0" hangingPunct="1">
        <a:defRPr sz="4470" kern="1200">
          <a:solidFill>
            <a:schemeClr val="tx1"/>
          </a:solidFill>
          <a:latin typeface="+mn-lt"/>
          <a:ea typeface="+mn-ea"/>
          <a:cs typeface="+mn-cs"/>
        </a:defRPr>
      </a:lvl6pPr>
      <a:lvl7pPr marL="6811914" algn="l" defTabSz="2270638" rtl="0" eaLnBrk="1" latinLnBrk="0" hangingPunct="1">
        <a:defRPr sz="4470" kern="1200">
          <a:solidFill>
            <a:schemeClr val="tx1"/>
          </a:solidFill>
          <a:latin typeface="+mn-lt"/>
          <a:ea typeface="+mn-ea"/>
          <a:cs typeface="+mn-cs"/>
        </a:defRPr>
      </a:lvl7pPr>
      <a:lvl8pPr marL="7947233" algn="l" defTabSz="2270638" rtl="0" eaLnBrk="1" latinLnBrk="0" hangingPunct="1">
        <a:defRPr sz="4470" kern="1200">
          <a:solidFill>
            <a:schemeClr val="tx1"/>
          </a:solidFill>
          <a:latin typeface="+mn-lt"/>
          <a:ea typeface="+mn-ea"/>
          <a:cs typeface="+mn-cs"/>
        </a:defRPr>
      </a:lvl8pPr>
      <a:lvl9pPr marL="9082552" algn="l" defTabSz="2270638" rtl="0" eaLnBrk="1" latinLnBrk="0" hangingPunct="1">
        <a:defRPr sz="44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8.png"/><Relationship Id="rId7" Type="http://schemas.openxmlformats.org/officeDocument/2006/relationships/hyperlink" Target="http://arxiv.org/abs/1711.05101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1109/ICCV48922.2021.01595" TargetMode="External"/><Relationship Id="rId5" Type="http://schemas.openxmlformats.org/officeDocument/2006/relationships/hyperlink" Target="https://doi.org/10.1016/j.rse.2021.112772" TargetMode="External"/><Relationship Id="rId10" Type="http://schemas.openxmlformats.org/officeDocument/2006/relationships/image" Target="../media/image11.png"/><Relationship Id="rId4" Type="http://schemas.openxmlformats.org/officeDocument/2006/relationships/hyperlink" Target="https://doi.org/10.1016/j.ophoto.2021.100001" TargetMode="External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4">
            <a:extLst>
              <a:ext uri="{FF2B5EF4-FFF2-40B4-BE49-F238E27FC236}">
                <a16:creationId xmlns:a16="http://schemas.microsoft.com/office/drawing/2014/main" id="{12F156C0-27E5-84FF-2DB4-79F1967C2C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1557" y="11076276"/>
            <a:ext cx="11028286" cy="49699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69B4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B2A5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B2A51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r>
              <a:rPr kumimoji="0" lang="en-US" sz="3600" b="1" i="0" u="none" strike="noStrike" cap="none" normalizeH="0" baseline="0" dirty="0">
                <a:ln>
                  <a:noFill/>
                </a:ln>
                <a:solidFill>
                  <a:srgbClr val="002F5D"/>
                </a:solidFill>
                <a:effectLst/>
                <a:latin typeface="Open Sans" panose="020B0606030504020204" pitchFamily="34" charset="0"/>
              </a:rPr>
              <a:t>1 Introduction</a:t>
            </a:r>
            <a:endParaRPr kumimoji="0" lang="en-US" sz="4600" b="1" i="0" u="none" strike="noStrike" cap="none" normalizeH="0" baseline="0" dirty="0">
              <a:ln>
                <a:noFill/>
              </a:ln>
              <a:solidFill>
                <a:srgbClr val="002F5D"/>
              </a:solidFill>
              <a:effectLst/>
              <a:latin typeface="Open Sans" panose="020B0606030504020204" pitchFamily="34" charset="0"/>
            </a:endParaRPr>
          </a:p>
          <a:p>
            <a:endParaRPr lang="en-US" dirty="0"/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ts val="600"/>
              </a:spcAft>
              <a:buFont typeface="Symbol" panose="05050102010706020507" pitchFamily="18" charset="2"/>
              <a:buChar char="-"/>
            </a:pPr>
            <a:r>
              <a:rPr kumimoji="0" lang="en-US" altLang="de-DE" sz="2400" i="0" u="none" strike="noStrike" cap="none" normalizeH="0" baseline="0" dirty="0">
                <a:ln>
                  <a:noFill/>
                </a:ln>
                <a:effectLst/>
                <a:latin typeface="Open Sans" panose="020B0606030504020204" pitchFamily="34" charset="0"/>
              </a:rPr>
              <a:t>Supervised deep learning for </a:t>
            </a:r>
            <a:r>
              <a:rPr lang="en-US" altLang="de-DE" sz="2400" dirty="0">
                <a:latin typeface="Open Sans" panose="020B0606030504020204" pitchFamily="34" charset="0"/>
              </a:rPr>
              <a:t>semantic segmentation of 3D </a:t>
            </a:r>
            <a:r>
              <a:rPr kumimoji="0" lang="en-US" altLang="de-DE" sz="2400" i="0" u="none" strike="noStrike" cap="none" normalizeH="0" baseline="0" dirty="0">
                <a:ln>
                  <a:noFill/>
                </a:ln>
                <a:effectLst/>
                <a:latin typeface="Open Sans" panose="020B0606030504020204" pitchFamily="34" charset="0"/>
              </a:rPr>
              <a:t>point cloud requires extensive labeled data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Symbol" panose="05050102010706020507" pitchFamily="18" charset="2"/>
              <a:buChar char="-"/>
              <a:tabLst/>
            </a:pPr>
            <a:r>
              <a:rPr kumimoji="0" lang="en-US" altLang="de-DE" sz="2400" b="1" i="0" u="none" strike="noStrike" cap="none" normalizeH="0" baseline="0" dirty="0">
                <a:ln>
                  <a:noFill/>
                </a:ln>
                <a:effectLst/>
                <a:latin typeface="Open Sans" panose="020B0606030504020204" pitchFamily="34" charset="0"/>
              </a:rPr>
              <a:t>Virtual laser scanning </a:t>
            </a:r>
            <a:r>
              <a:rPr kumimoji="0" lang="en-US" altLang="de-DE" sz="2400" i="0" u="none" strike="noStrike" cap="none" normalizeH="0" baseline="0" dirty="0">
                <a:ln>
                  <a:noFill/>
                </a:ln>
                <a:effectLst/>
                <a:latin typeface="Open Sans" panose="020B0606030504020204" pitchFamily="34" charset="0"/>
              </a:rPr>
              <a:t>(VLS) is typically used to create training data from synthetic scenes, but could also be a useful tool for data augmentation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Symbol" panose="05050102010706020507" pitchFamily="18" charset="2"/>
              <a:buChar char="-"/>
              <a:tabLst/>
            </a:pPr>
            <a:r>
              <a:rPr kumimoji="0" lang="en-US" altLang="de-DE" sz="2400" i="0" u="none" strike="noStrike" cap="none" normalizeH="0" baseline="0" dirty="0">
                <a:ln>
                  <a:noFill/>
                </a:ln>
                <a:effectLst/>
                <a:latin typeface="Open Sans" panose="020B0606030504020204" pitchFamily="34" charset="0"/>
              </a:rPr>
              <a:t>Idea:</a:t>
            </a:r>
          </a:p>
          <a:p>
            <a:pPr marL="800100" lvl="1" indent="-342900" algn="just" eaLnBrk="0" fontAlgn="base" hangingPunct="0">
              <a:spcBef>
                <a:spcPct val="0"/>
              </a:spcBef>
              <a:spcAft>
                <a:spcPts val="600"/>
              </a:spcAft>
              <a:buFont typeface="Symbol" panose="05050102010706020507" pitchFamily="18" charset="2"/>
              <a:buChar char="-"/>
            </a:pPr>
            <a:r>
              <a:rPr kumimoji="0" lang="en-US" altLang="de-DE" sz="2400" i="0" u="none" strike="noStrike" cap="none" normalizeH="0" baseline="0" dirty="0">
                <a:ln>
                  <a:noFill/>
                </a:ln>
                <a:effectLst/>
                <a:latin typeface="Open Sans" panose="020B0606030504020204" pitchFamily="34" charset="0"/>
              </a:rPr>
              <a:t>Modify training data in a physically meaningful way through using VLS</a:t>
            </a:r>
            <a:endParaRPr lang="en-US" altLang="de-DE" sz="2400" dirty="0">
              <a:latin typeface="Open Sans" panose="020B0606030504020204" pitchFamily="34" charset="0"/>
            </a:endParaRPr>
          </a:p>
          <a:p>
            <a:pPr marL="800100" lvl="1" indent="-342900" algn="just" eaLnBrk="0" fontAlgn="base" hangingPunct="0">
              <a:spcBef>
                <a:spcPct val="0"/>
              </a:spcBef>
              <a:spcAft>
                <a:spcPts val="600"/>
              </a:spcAft>
              <a:buFont typeface="Symbol" panose="05050102010706020507" pitchFamily="18" charset="2"/>
              <a:buChar char="-"/>
            </a:pPr>
            <a:r>
              <a:rPr kumimoji="0" lang="en-US" altLang="de-DE" sz="2400" i="0" u="none" strike="noStrike" cap="none" normalizeH="0" baseline="0" dirty="0">
                <a:ln>
                  <a:noFill/>
                </a:ln>
                <a:effectLst/>
                <a:latin typeface="Open Sans" panose="020B0606030504020204" pitchFamily="34" charset="0"/>
              </a:rPr>
              <a:t>Virtual scan a 3D scene created from labelled real point clouds from different perspectives and with complementary LiDAR techniques to simulate shadow effects and different point distributions </a:t>
            </a:r>
            <a:endParaRPr kumimoji="0" lang="de-DE" altLang="de-DE" sz="2400" i="0" u="none" strike="noStrike" cap="none" normalizeH="0" baseline="0" dirty="0">
              <a:ln>
                <a:noFill/>
              </a:ln>
              <a:effectLst/>
              <a:latin typeface="Open Sans" panose="020B0606030504020204" pitchFamily="34" charset="0"/>
            </a:endParaRPr>
          </a:p>
        </p:txBody>
      </p:sp>
      <p:sp>
        <p:nvSpPr>
          <p:cNvPr id="4" name="Text Box 2">
            <a:extLst>
              <a:ext uri="{FF2B5EF4-FFF2-40B4-BE49-F238E27FC236}">
                <a16:creationId xmlns:a16="http://schemas.microsoft.com/office/drawing/2014/main" id="{41416F46-62E2-D1F5-B9A6-B66D370596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5844306"/>
            <a:ext cx="28232100" cy="4660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69B4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B2A5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B2A51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600"/>
              </a:spcAft>
              <a:buClrTx/>
              <a:buSzTx/>
              <a:buFontTx/>
              <a:buNone/>
              <a:tabLst/>
            </a:pPr>
            <a:r>
              <a:rPr kumimoji="0" lang="en-US" sz="9600" b="1" i="0" u="none" strike="noStrike" cap="none" normalizeH="0" baseline="0" dirty="0">
                <a:ln>
                  <a:noFill/>
                </a:ln>
                <a:solidFill>
                  <a:srgbClr val="002F5D"/>
                </a:solidFill>
                <a:effectLst/>
                <a:latin typeface="Open Sans Semibold" panose="020B0706030804020204" pitchFamily="34" charset="0"/>
              </a:rPr>
              <a:t>Data augmentation to enhance semantic segmentation of 3D point clouds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600"/>
              </a:spcAft>
              <a:buClrTx/>
              <a:buSzTx/>
              <a:buFontTx/>
              <a:buNone/>
              <a:tabLst/>
            </a:pPr>
            <a:r>
              <a:rPr lang="en-US" sz="4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Felix Matzke</a:t>
            </a:r>
            <a:r>
              <a:rPr lang="en-US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Anette </a:t>
            </a:r>
            <a:r>
              <a:rPr lang="en-US" sz="4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Eltner</a:t>
            </a:r>
            <a:endParaRPr lang="en-US" sz="4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buClrTx/>
              <a:buSzTx/>
              <a:buFontTx/>
              <a:buNone/>
              <a:tabLst/>
            </a:pPr>
            <a:r>
              <a:rPr kumimoji="0" lang="en-US" sz="2400" i="0" u="none" strike="noStrike" cap="none" normalizeH="0" baseline="0" dirty="0">
                <a:ln>
                  <a:noFill/>
                </a:ln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TU Dresden, Institute of Photogramme­try and Remote Sensing, Germany</a:t>
            </a:r>
          </a:p>
        </p:txBody>
      </p:sp>
      <p:cxnSp>
        <p:nvCxnSpPr>
          <p:cNvPr id="5" name="AutoShape 10">
            <a:extLst>
              <a:ext uri="{FF2B5EF4-FFF2-40B4-BE49-F238E27FC236}">
                <a16:creationId xmlns:a16="http://schemas.microsoft.com/office/drawing/2014/main" id="{77C9485D-306C-73CA-C5A1-C27F54847EA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021556" y="10754801"/>
            <a:ext cx="28232100" cy="0"/>
          </a:xfrm>
          <a:prstGeom prst="straightConnector1">
            <a:avLst/>
          </a:prstGeom>
          <a:noFill/>
          <a:ln w="28575">
            <a:solidFill>
              <a:srgbClr val="0B2A5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B2A51"/>
                  </a:outerShdw>
                </a:effectLst>
              </a14:hiddenEffects>
            </a:ext>
          </a:extLst>
        </p:spPr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68BF5542-B712-4249-B495-8410DD3845C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8" r="692"/>
          <a:stretch/>
        </p:blipFill>
        <p:spPr>
          <a:xfrm>
            <a:off x="12460567" y="10912190"/>
            <a:ext cx="16743083" cy="4313045"/>
          </a:xfrm>
          <a:prstGeom prst="rect">
            <a:avLst/>
          </a:prstGeom>
        </p:spPr>
      </p:pic>
      <p:sp>
        <p:nvSpPr>
          <p:cNvPr id="69" name="Text Box 4">
            <a:extLst>
              <a:ext uri="{FF2B5EF4-FFF2-40B4-BE49-F238E27FC236}">
                <a16:creationId xmlns:a16="http://schemas.microsoft.com/office/drawing/2014/main" id="{CD2297DC-072E-4815-A5F4-87084500DB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58037" y="16046187"/>
            <a:ext cx="9195619" cy="5800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69B4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B2A5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B2A51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r>
              <a:rPr lang="en-US" sz="3600" b="1" dirty="0">
                <a:solidFill>
                  <a:srgbClr val="002F5D"/>
                </a:solidFill>
                <a:latin typeface="Open Sans" panose="020B0606030504020204" pitchFamily="34" charset="0"/>
              </a:rPr>
              <a:t>2.2 Offline Data Augmentation with VLS</a:t>
            </a:r>
            <a:endParaRPr kumimoji="0" lang="en-US" sz="4600" b="1" i="0" u="none" strike="noStrike" cap="none" normalizeH="0" baseline="0" dirty="0">
              <a:ln>
                <a:noFill/>
              </a:ln>
              <a:solidFill>
                <a:srgbClr val="002F5D"/>
              </a:solidFill>
              <a:effectLst/>
              <a:latin typeface="Open Sans" panose="020B0606030504020204" pitchFamily="34" charset="0"/>
            </a:endParaRPr>
          </a:p>
          <a:p>
            <a:endParaRPr lang="en-US" dirty="0"/>
          </a:p>
          <a:p>
            <a:pPr marL="342900" indent="-342900" algn="just">
              <a:buFont typeface="Open Sans" panose="020B0606030504020204" pitchFamily="34" charset="0"/>
              <a:buChar char="−"/>
            </a:pP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Virtual laser scanning is carried out with </a:t>
            </a:r>
            <a:r>
              <a:rPr lang="en-US" sz="2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HELIOS++</a:t>
            </a:r>
            <a:r>
              <a:rPr lang="en-US" sz="2400" b="1" baseline="30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</a:t>
            </a:r>
            <a:endParaRPr lang="en-US" sz="2400" baseline="30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 algn="just">
              <a:buFont typeface="Open Sans" panose="020B0606030504020204" pitchFamily="34" charset="0"/>
              <a:buChar char="−"/>
            </a:pP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 create a scene, real point cloud data must be converted into supported data formats</a:t>
            </a:r>
          </a:p>
          <a:p>
            <a:pPr marL="800100" lvl="1" indent="-342900" algn="just">
              <a:buFont typeface="Open Sans" panose="020B0606030504020204" pitchFamily="34" charset="0"/>
              <a:buChar char="−"/>
            </a:pP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r>
              <a:rPr lang="en-US" sz="2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xyz</a:t>
            </a: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for point clouds, which are split by labels to assign the respective object class via .</a:t>
            </a:r>
            <a:r>
              <a:rPr lang="en-US" sz="2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mtl</a:t>
            </a: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files	</a:t>
            </a:r>
          </a:p>
          <a:p>
            <a:pPr marL="800100" lvl="1" indent="-342900" algn="just">
              <a:buFont typeface="Open Sans" panose="020B0606030504020204" pitchFamily="34" charset="0"/>
              <a:buChar char="−"/>
            </a:pP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.obj for meshes</a:t>
            </a:r>
          </a:p>
          <a:p>
            <a:pPr marL="342900" indent="-342900" algn="just">
              <a:buFont typeface="Open Sans" panose="020B0606030504020204" pitchFamily="34" charset="0"/>
              <a:buChar char="−"/>
            </a:pP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Two approaches are being followed (see Figure 2):</a:t>
            </a:r>
          </a:p>
          <a:p>
            <a:pPr marL="800100" lvl="1" indent="-342900" algn="just">
              <a:buFont typeface="Open Sans" panose="020B0606030504020204" pitchFamily="34" charset="0"/>
              <a:buChar char="−"/>
            </a:pP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Using point clouds (label-wise) , which are </a:t>
            </a:r>
            <a:r>
              <a:rPr lang="en-US" sz="2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voxelized</a:t>
            </a: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within HELIOS++ to construct the scene</a:t>
            </a:r>
          </a:p>
          <a:p>
            <a:pPr marL="800100" lvl="1" indent="-342900" algn="just">
              <a:buFont typeface="Open Sans" panose="020B0606030504020204" pitchFamily="34" charset="0"/>
              <a:buChar char="−"/>
            </a:pP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Meshing all non-vegetation classes while using point clouds (label-wise) for vegetation</a:t>
            </a:r>
          </a:p>
          <a:p>
            <a:pPr marL="342900" indent="-342900" algn="just">
              <a:buFont typeface="Open Sans" panose="020B0606030504020204" pitchFamily="34" charset="0"/>
              <a:buChar char="−"/>
            </a:pP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scene is scanned virtually using the RIEGL VZ400 terrestrial laser scanner from manually defined viewpoints</a:t>
            </a:r>
            <a:endParaRPr lang="en-US" sz="2400" baseline="30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0" name="CuadroTexto 26">
            <a:extLst>
              <a:ext uri="{FF2B5EF4-FFF2-40B4-BE49-F238E27FC236}">
                <a16:creationId xmlns:a16="http://schemas.microsoft.com/office/drawing/2014/main" id="{695DCDD9-DC19-4D91-BD13-A13CBCFF3346}"/>
              </a:ext>
            </a:extLst>
          </p:cNvPr>
          <p:cNvSpPr txBox="1"/>
          <p:nvPr/>
        </p:nvSpPr>
        <p:spPr>
          <a:xfrm>
            <a:off x="1021555" y="29633418"/>
            <a:ext cx="11028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a-ES" sz="2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Figure 2: </a:t>
            </a:r>
            <a:r>
              <a:rPr lang="ca-E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Schematic workflow</a:t>
            </a:r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id="{388CF8C6-F40C-4CA5-9BA8-F0BCD0C8F1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555" y="17015465"/>
            <a:ext cx="11028288" cy="12617953"/>
          </a:xfrm>
          <a:prstGeom prst="rect">
            <a:avLst/>
          </a:prstGeom>
        </p:spPr>
      </p:pic>
      <p:sp>
        <p:nvSpPr>
          <p:cNvPr id="75" name="Text Box 4">
            <a:extLst>
              <a:ext uri="{FF2B5EF4-FFF2-40B4-BE49-F238E27FC236}">
                <a16:creationId xmlns:a16="http://schemas.microsoft.com/office/drawing/2014/main" id="{3A2872FD-8C67-4C8A-A6A2-809D280EB3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60567" y="19629985"/>
            <a:ext cx="7025253" cy="49101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69B4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B2A5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B2A51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r>
              <a:rPr lang="en-US" sz="3600" b="1" dirty="0">
                <a:solidFill>
                  <a:srgbClr val="002F5D"/>
                </a:solidFill>
                <a:latin typeface="Open Sans" panose="020B0606030504020204" pitchFamily="34" charset="0"/>
              </a:rPr>
              <a:t>2.3 Semantic Segmentation</a:t>
            </a:r>
            <a:endParaRPr kumimoji="0" lang="en-US" sz="4600" b="1" i="0" u="none" strike="noStrike" cap="none" normalizeH="0" baseline="0" dirty="0">
              <a:ln>
                <a:noFill/>
              </a:ln>
              <a:solidFill>
                <a:srgbClr val="002F5D"/>
              </a:solidFill>
              <a:effectLst/>
              <a:latin typeface="Open Sans" panose="020B0606030504020204" pitchFamily="34" charset="0"/>
            </a:endParaRPr>
          </a:p>
          <a:p>
            <a:endParaRPr lang="en-US" dirty="0"/>
          </a:p>
          <a:p>
            <a:pPr marL="342900" indent="-342900" algn="just">
              <a:buFont typeface="Open Sans" panose="020B0606030504020204" pitchFamily="34" charset="0"/>
              <a:buChar char="−"/>
            </a:pP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For Semantic Segmentation, the </a:t>
            </a:r>
            <a:r>
              <a:rPr lang="en-US" sz="2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Point Transformer</a:t>
            </a:r>
            <a:r>
              <a:rPr lang="en-US" sz="2400" baseline="30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</a:t>
            </a: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architecture (with original settings) is used</a:t>
            </a:r>
          </a:p>
          <a:p>
            <a:pPr marL="342900" indent="-342900" algn="just">
              <a:buFont typeface="Open Sans" panose="020B0606030504020204" pitchFamily="34" charset="0"/>
              <a:buChar char="−"/>
            </a:pP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Input point clouds are divided into 10 m block-shaped sub-clouds</a:t>
            </a:r>
          </a:p>
          <a:p>
            <a:pPr marL="342900" indent="-342900" algn="just">
              <a:buFont typeface="Open Sans" panose="020B0606030504020204" pitchFamily="34" charset="0"/>
              <a:buChar char="−"/>
            </a:pP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Only point coordinates are used, making training harder but improving transferability</a:t>
            </a:r>
          </a:p>
          <a:p>
            <a:pPr marL="342900" indent="-342900" algn="just">
              <a:buFont typeface="Open Sans" panose="020B0606030504020204" pitchFamily="34" charset="0"/>
              <a:buChar char="−"/>
            </a:pP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simple training strategy was chosen after testing and applied in all experiments (see Table 1)</a:t>
            </a:r>
          </a:p>
        </p:txBody>
      </p:sp>
      <p:graphicFrame>
        <p:nvGraphicFramePr>
          <p:cNvPr id="76" name="Table 76">
            <a:extLst>
              <a:ext uri="{FF2B5EF4-FFF2-40B4-BE49-F238E27FC236}">
                <a16:creationId xmlns:a16="http://schemas.microsoft.com/office/drawing/2014/main" id="{633E06C9-08A1-42EF-A7EC-EB97CE5E50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7386257"/>
              </p:ext>
            </p:extLst>
          </p:nvPr>
        </p:nvGraphicFramePr>
        <p:xfrm>
          <a:off x="13726639" y="24376715"/>
          <a:ext cx="4904422" cy="1828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52211">
                  <a:extLst>
                    <a:ext uri="{9D8B030D-6E8A-4147-A177-3AD203B41FA5}">
                      <a16:colId xmlns:a16="http://schemas.microsoft.com/office/drawing/2014/main" val="249545289"/>
                    </a:ext>
                  </a:extLst>
                </a:gridCol>
                <a:gridCol w="2452211">
                  <a:extLst>
                    <a:ext uri="{9D8B030D-6E8A-4147-A177-3AD203B41FA5}">
                      <a16:colId xmlns:a16="http://schemas.microsoft.com/office/drawing/2014/main" val="39864494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Optimizer</a:t>
                      </a:r>
                    </a:p>
                  </a:txBody>
                  <a:tcPr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AdamW</a:t>
                      </a:r>
                      <a:r>
                        <a:rPr lang="en-US" sz="2400" baseline="300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4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54754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Weight decay</a:t>
                      </a:r>
                    </a:p>
                  </a:txBody>
                  <a:tcPr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0.01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1129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Learning rate</a:t>
                      </a:r>
                    </a:p>
                  </a:txBody>
                  <a:tcPr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0.001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1447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Batch size</a:t>
                      </a:r>
                    </a:p>
                  </a:txBody>
                  <a:tcPr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4 and 5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8360956"/>
                  </a:ext>
                </a:extLst>
              </a:tr>
            </a:tbl>
          </a:graphicData>
        </a:graphic>
      </p:graphicFrame>
      <p:sp>
        <p:nvSpPr>
          <p:cNvPr id="79" name="CuadroTexto 26">
            <a:extLst>
              <a:ext uri="{FF2B5EF4-FFF2-40B4-BE49-F238E27FC236}">
                <a16:creationId xmlns:a16="http://schemas.microsoft.com/office/drawing/2014/main" id="{1265ADA6-3084-40FB-B824-C400E1F9340C}"/>
              </a:ext>
            </a:extLst>
          </p:cNvPr>
          <p:cNvSpPr txBox="1"/>
          <p:nvPr/>
        </p:nvSpPr>
        <p:spPr>
          <a:xfrm>
            <a:off x="13726639" y="26327117"/>
            <a:ext cx="4904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a-ES" sz="2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Table 1: </a:t>
            </a:r>
            <a:r>
              <a:rPr lang="ca-E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Training settings</a:t>
            </a:r>
          </a:p>
        </p:txBody>
      </p:sp>
      <p:sp>
        <p:nvSpPr>
          <p:cNvPr id="80" name="Textfeld 62">
            <a:extLst>
              <a:ext uri="{FF2B5EF4-FFF2-40B4-BE49-F238E27FC236}">
                <a16:creationId xmlns:a16="http://schemas.microsoft.com/office/drawing/2014/main" id="{8B1519C3-9592-4038-9852-BCF9F8715A12}"/>
              </a:ext>
            </a:extLst>
          </p:cNvPr>
          <p:cNvSpPr txBox="1"/>
          <p:nvPr/>
        </p:nvSpPr>
        <p:spPr>
          <a:xfrm>
            <a:off x="1021556" y="36186297"/>
            <a:ext cx="28182094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0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References: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 err="1">
                <a:effectLst/>
              </a:rPr>
              <a:t>Kölle</a:t>
            </a:r>
            <a:r>
              <a:rPr lang="en-US" dirty="0">
                <a:effectLst/>
              </a:rPr>
              <a:t>, M., </a:t>
            </a:r>
            <a:r>
              <a:rPr lang="en-US" dirty="0" err="1">
                <a:effectLst/>
              </a:rPr>
              <a:t>Laupheimer</a:t>
            </a:r>
            <a:r>
              <a:rPr lang="en-US" dirty="0">
                <a:effectLst/>
              </a:rPr>
              <a:t>, D., </a:t>
            </a:r>
            <a:r>
              <a:rPr lang="en-US" dirty="0" err="1">
                <a:effectLst/>
              </a:rPr>
              <a:t>Schmohl</a:t>
            </a:r>
            <a:r>
              <a:rPr lang="en-US" dirty="0">
                <a:effectLst/>
              </a:rPr>
              <a:t>, S., </a:t>
            </a:r>
            <a:r>
              <a:rPr lang="en-US" dirty="0" err="1">
                <a:effectLst/>
              </a:rPr>
              <a:t>Haala</a:t>
            </a:r>
            <a:r>
              <a:rPr lang="en-US" dirty="0">
                <a:effectLst/>
              </a:rPr>
              <a:t>, N., </a:t>
            </a:r>
            <a:r>
              <a:rPr lang="en-US" dirty="0" err="1">
                <a:effectLst/>
              </a:rPr>
              <a:t>Rottensteiner</a:t>
            </a:r>
            <a:r>
              <a:rPr lang="en-US" dirty="0">
                <a:effectLst/>
              </a:rPr>
              <a:t>, F., Wegner, J. D., &amp; Ledoux, H. (2021). The </a:t>
            </a:r>
            <a:r>
              <a:rPr lang="en-US" dirty="0" err="1">
                <a:effectLst/>
              </a:rPr>
              <a:t>Hessigheim</a:t>
            </a:r>
            <a:r>
              <a:rPr lang="en-US" dirty="0">
                <a:effectLst/>
              </a:rPr>
              <a:t> 3D (H3D) benchmark on semantic segmentation of high-resolution 3D point clouds and textured meshes from UAV LiDAR and Multi-View-Stereo. </a:t>
            </a:r>
            <a:r>
              <a:rPr lang="en-US" i="1" dirty="0">
                <a:effectLst/>
              </a:rPr>
              <a:t>ISPRS Open Journal of Photogrammetry and Remote Sensing</a:t>
            </a:r>
            <a:r>
              <a:rPr lang="en-US" dirty="0">
                <a:effectLst/>
              </a:rPr>
              <a:t>, </a:t>
            </a:r>
            <a:r>
              <a:rPr lang="en-US" i="1" dirty="0">
                <a:effectLst/>
              </a:rPr>
              <a:t>1</a:t>
            </a:r>
            <a:r>
              <a:rPr lang="en-US" dirty="0">
                <a:effectLst/>
              </a:rPr>
              <a:t>, 100001. </a:t>
            </a:r>
            <a:r>
              <a:rPr lang="en-US" dirty="0">
                <a:effectLst/>
                <a:hlinkClick r:id="rId4"/>
              </a:rPr>
              <a:t>https://doi.org/10.1016/j.ophoto.2021.100001</a:t>
            </a:r>
            <a:endParaRPr lang="en-US" dirty="0">
              <a:effectLst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dirty="0" err="1">
                <a:effectLst/>
              </a:rPr>
              <a:t>Winiwarter</a:t>
            </a:r>
            <a:r>
              <a:rPr lang="en-US" dirty="0">
                <a:effectLst/>
              </a:rPr>
              <a:t>, L., </a:t>
            </a:r>
            <a:r>
              <a:rPr lang="en-US" dirty="0" err="1">
                <a:effectLst/>
              </a:rPr>
              <a:t>Esmorís</a:t>
            </a:r>
            <a:r>
              <a:rPr lang="en-US" dirty="0">
                <a:effectLst/>
              </a:rPr>
              <a:t> Pena, A. M., Weiser, H., Anders, K., Martínez Sánchez, J., Searle, M., &amp; </a:t>
            </a:r>
            <a:r>
              <a:rPr lang="en-US" dirty="0" err="1">
                <a:effectLst/>
              </a:rPr>
              <a:t>Höfle</a:t>
            </a:r>
            <a:r>
              <a:rPr lang="en-US" dirty="0">
                <a:effectLst/>
              </a:rPr>
              <a:t>, B. (2022). Virtual laser scanning with HELIOS++: A novel take on ray tracing-based simulation of topographic full-waveform 3D laser scanning. </a:t>
            </a:r>
            <a:r>
              <a:rPr lang="en-US" i="1" dirty="0">
                <a:effectLst/>
              </a:rPr>
              <a:t>Remote Sensing of Environment</a:t>
            </a:r>
            <a:r>
              <a:rPr lang="en-US" dirty="0">
                <a:effectLst/>
              </a:rPr>
              <a:t>, </a:t>
            </a:r>
            <a:r>
              <a:rPr lang="en-US" i="1" dirty="0">
                <a:effectLst/>
              </a:rPr>
              <a:t>269</a:t>
            </a:r>
            <a:r>
              <a:rPr lang="en-US" dirty="0">
                <a:effectLst/>
              </a:rPr>
              <a:t>, 112772. </a:t>
            </a:r>
            <a:r>
              <a:rPr lang="en-US" dirty="0">
                <a:effectLst/>
                <a:hlinkClick r:id="rId5"/>
              </a:rPr>
              <a:t>https://doi.org/10.1016/j.rse.2021.112772</a:t>
            </a:r>
            <a:endParaRPr lang="en-GB" sz="1800" b="0" i="0" dirty="0">
              <a:solidFill>
                <a:srgbClr val="222222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dirty="0">
                <a:effectLst/>
              </a:rPr>
              <a:t>Zhao, H., Jiang, L., Jia, J., Torr, P., &amp; </a:t>
            </a:r>
            <a:r>
              <a:rPr lang="en-US" dirty="0" err="1">
                <a:effectLst/>
              </a:rPr>
              <a:t>Koltun</a:t>
            </a:r>
            <a:r>
              <a:rPr lang="en-US" dirty="0">
                <a:effectLst/>
              </a:rPr>
              <a:t>, V. (2021). Point Transformer. </a:t>
            </a:r>
            <a:r>
              <a:rPr lang="en-US" i="1" dirty="0">
                <a:effectLst/>
              </a:rPr>
              <a:t>2021 IEEE/CVF International Conference on Computer Vision (ICCV)</a:t>
            </a:r>
            <a:r>
              <a:rPr lang="en-US" dirty="0">
                <a:effectLst/>
              </a:rPr>
              <a:t>, 16239–16248. </a:t>
            </a:r>
            <a:r>
              <a:rPr lang="en-US" dirty="0">
                <a:effectLst/>
                <a:hlinkClick r:id="rId6"/>
              </a:rPr>
              <a:t>https://doi.org/10.1109/ICCV48922.2021.01595</a:t>
            </a:r>
            <a:endParaRPr lang="en-US" dirty="0">
              <a:effectLst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dirty="0" err="1">
                <a:effectLst/>
              </a:rPr>
              <a:t>Loshchilov</a:t>
            </a:r>
            <a:r>
              <a:rPr lang="en-US" dirty="0">
                <a:effectLst/>
              </a:rPr>
              <a:t>, I., &amp; </a:t>
            </a:r>
            <a:r>
              <a:rPr lang="en-US" dirty="0" err="1">
                <a:effectLst/>
              </a:rPr>
              <a:t>Hutter</a:t>
            </a:r>
            <a:r>
              <a:rPr lang="en-US" dirty="0">
                <a:effectLst/>
              </a:rPr>
              <a:t>, F. (2019). </a:t>
            </a:r>
            <a:r>
              <a:rPr lang="en-US" i="1" dirty="0">
                <a:effectLst/>
              </a:rPr>
              <a:t>Decoupled Weight Decay Regularization</a:t>
            </a:r>
            <a:r>
              <a:rPr lang="en-US" dirty="0">
                <a:effectLst/>
              </a:rPr>
              <a:t> (arXiv:1711.05101). </a:t>
            </a:r>
            <a:r>
              <a:rPr lang="en-US" dirty="0" err="1">
                <a:effectLst/>
              </a:rPr>
              <a:t>arXiv</a:t>
            </a:r>
            <a:r>
              <a:rPr lang="en-US" dirty="0">
                <a:effectLst/>
              </a:rPr>
              <a:t>. </a:t>
            </a:r>
            <a:r>
              <a:rPr lang="en-US" dirty="0">
                <a:effectLst/>
                <a:hlinkClick r:id="rId7"/>
              </a:rPr>
              <a:t>http://arxiv.org/abs/1711.05101</a:t>
            </a:r>
            <a:endParaRPr lang="en-US" dirty="0">
              <a:effectLst/>
            </a:endParaRPr>
          </a:p>
        </p:txBody>
      </p:sp>
      <p:sp>
        <p:nvSpPr>
          <p:cNvPr id="81" name="Text Box 4">
            <a:extLst>
              <a:ext uri="{FF2B5EF4-FFF2-40B4-BE49-F238E27FC236}">
                <a16:creationId xmlns:a16="http://schemas.microsoft.com/office/drawing/2014/main" id="{F07B4A5C-84BC-4BEF-BF2E-041032E1F8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30420804"/>
            <a:ext cx="7662311" cy="5881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69B4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B2A5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B2A51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r>
              <a:rPr kumimoji="0" lang="en-US" sz="3600" b="1" i="0" u="none" strike="noStrike" cap="none" normalizeH="0" baseline="0" dirty="0">
                <a:ln>
                  <a:noFill/>
                </a:ln>
                <a:solidFill>
                  <a:srgbClr val="002F5D"/>
                </a:solidFill>
                <a:effectLst/>
                <a:latin typeface="Open Sans" panose="020B0606030504020204" pitchFamily="34" charset="0"/>
              </a:rPr>
              <a:t>3 Results and Outlook</a:t>
            </a:r>
            <a:endParaRPr kumimoji="0" lang="en-US" sz="4600" b="1" i="0" u="none" strike="noStrike" cap="none" normalizeH="0" baseline="0" dirty="0">
              <a:ln>
                <a:noFill/>
              </a:ln>
              <a:solidFill>
                <a:srgbClr val="002F5D"/>
              </a:solidFill>
              <a:effectLst/>
              <a:latin typeface="Open Sans" panose="020B0606030504020204" pitchFamily="34" charset="0"/>
            </a:endParaRPr>
          </a:p>
          <a:p>
            <a:pPr marL="342900" indent="-342900">
              <a:buFont typeface="Symbol" panose="05050102010706020507" pitchFamily="18" charset="2"/>
              <a:buChar char="-"/>
            </a:pPr>
            <a:endPara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 algn="just">
              <a:buFont typeface="Symbol" panose="05050102010706020507" pitchFamily="18" charset="2"/>
              <a:buChar char="-"/>
            </a:pP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proposed data augmentation (both approaches) improves training and results (see Figures 3 &amp; 4), except for tree and chimney classes</a:t>
            </a:r>
          </a:p>
          <a:p>
            <a:pPr marL="342900" indent="-342900" algn="just">
              <a:buFont typeface="Symbol" panose="05050102010706020507" pitchFamily="18" charset="2"/>
              <a:buChar char="-"/>
            </a:pP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All models fail to </a:t>
            </a:r>
            <a:r>
              <a:rPr lang="en-US"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differentiate soil/gravel and low </a:t>
            </a: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</a:t>
            </a:r>
            <a:r>
              <a:rPr lang="en-US"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egetation</a:t>
            </a: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and vehicle misclassification mainly occurs with water vessels</a:t>
            </a:r>
          </a:p>
          <a:p>
            <a:pPr marL="342900" indent="-342900" algn="just">
              <a:buFont typeface="Symbol" panose="05050102010706020507" pitchFamily="18" charset="2"/>
              <a:buChar char="-"/>
            </a:pP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Future research questions:</a:t>
            </a:r>
          </a:p>
          <a:p>
            <a:pPr marL="800100" lvl="1" indent="-342900" algn="just">
              <a:buFont typeface="Symbol" panose="05050102010706020507" pitchFamily="18" charset="2"/>
              <a:buChar char="-"/>
            </a:pP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Effectiveness for other deep learning approaches (e.g., voxel-based) and domains (e.g., forests).</a:t>
            </a:r>
          </a:p>
          <a:p>
            <a:pPr marL="800100" lvl="1" indent="-342900" algn="just">
              <a:buFont typeface="Symbol" panose="05050102010706020507" pitchFamily="18" charset="2"/>
              <a:buChar char="-"/>
            </a:pP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Sensor-agnostic capability of trained models</a:t>
            </a:r>
          </a:p>
          <a:p>
            <a:pPr marL="800100" lvl="1" indent="-342900" algn="just">
              <a:buFont typeface="Symbol" panose="05050102010706020507" pitchFamily="18" charset="2"/>
              <a:buChar char="-"/>
            </a:pP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Integration with other data augmentation strategies</a:t>
            </a:r>
          </a:p>
        </p:txBody>
      </p:sp>
      <p:sp>
        <p:nvSpPr>
          <p:cNvPr id="82" name="Text Box 4">
            <a:extLst>
              <a:ext uri="{FF2B5EF4-FFF2-40B4-BE49-F238E27FC236}">
                <a16:creationId xmlns:a16="http://schemas.microsoft.com/office/drawing/2014/main" id="{C6241C0A-697D-4C80-AEED-96D2AE43FB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60567" y="16140450"/>
            <a:ext cx="7025253" cy="36818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69B4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B2A5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B2A51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r>
              <a:rPr kumimoji="0" lang="en-US" sz="3600" b="1" i="0" u="none" strike="noStrike" cap="none" normalizeH="0" baseline="0" dirty="0">
                <a:ln>
                  <a:noFill/>
                </a:ln>
                <a:solidFill>
                  <a:srgbClr val="002F5D"/>
                </a:solidFill>
                <a:effectLst/>
                <a:latin typeface="Open Sans" panose="020B0606030504020204" pitchFamily="34" charset="0"/>
              </a:rPr>
              <a:t>2.1 Data</a:t>
            </a:r>
            <a:endParaRPr kumimoji="0" lang="en-US" sz="4600" b="1" i="0" u="none" strike="noStrike" cap="none" normalizeH="0" baseline="0" dirty="0">
              <a:ln>
                <a:noFill/>
              </a:ln>
              <a:solidFill>
                <a:srgbClr val="002F5D"/>
              </a:solidFill>
              <a:effectLst/>
              <a:latin typeface="Open Sans" panose="020B0606030504020204" pitchFamily="34" charset="0"/>
            </a:endParaRPr>
          </a:p>
          <a:p>
            <a:pPr algn="just"/>
            <a:endParaRPr lang="en-US" dirty="0"/>
          </a:p>
          <a:p>
            <a:pPr marL="342900" indent="-342900" algn="just">
              <a:buFont typeface="Open Sans" panose="020B0606030504020204" pitchFamily="34" charset="0"/>
              <a:buChar char="−"/>
            </a:pPr>
            <a:r>
              <a:rPr lang="en-US" sz="2400" dirty="0"/>
              <a:t>Experiments are conducted using the </a:t>
            </a:r>
            <a:r>
              <a:rPr lang="en-US" sz="2400" b="1" dirty="0" err="1"/>
              <a:t>Hessigheim</a:t>
            </a:r>
            <a:r>
              <a:rPr lang="en-US" sz="2400" b="1" dirty="0"/>
              <a:t> 3D </a:t>
            </a:r>
            <a:r>
              <a:rPr lang="en-US" sz="2400" dirty="0"/>
              <a:t>dataset from March 2019</a:t>
            </a:r>
            <a:r>
              <a:rPr lang="en-US" sz="2400" baseline="30000" dirty="0"/>
              <a:t>1</a:t>
            </a:r>
          </a:p>
          <a:p>
            <a:pPr marL="342900" indent="-342900" algn="just">
              <a:buFont typeface="Open Sans" panose="020B0606030504020204" pitchFamily="34" charset="0"/>
              <a:buChar char="−"/>
            </a:pPr>
            <a:r>
              <a:rPr lang="en-US" sz="2400" dirty="0"/>
              <a:t>The original validation area is used for testing</a:t>
            </a:r>
          </a:p>
          <a:p>
            <a:pPr marL="342900" indent="-342900" algn="just">
              <a:buFont typeface="Open Sans" panose="020B0606030504020204" pitchFamily="34" charset="0"/>
              <a:buChar char="−"/>
            </a:pPr>
            <a:r>
              <a:rPr lang="en-US" sz="2400" dirty="0"/>
              <a:t>A subset of the training area is divided into a training set (approx. 37 M points) and a validation set</a:t>
            </a:r>
          </a:p>
        </p:txBody>
      </p:sp>
      <p:pic>
        <p:nvPicPr>
          <p:cNvPr id="84" name="Picture 83">
            <a:extLst>
              <a:ext uri="{FF2B5EF4-FFF2-40B4-BE49-F238E27FC236}">
                <a16:creationId xmlns:a16="http://schemas.microsoft.com/office/drawing/2014/main" id="{A26D76C1-CE91-4731-A503-261B06BBD29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98675" y="30298513"/>
            <a:ext cx="5569399" cy="5188756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4FF13950-E29E-EE82-A9B1-7EC5CD08FC24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21333" t="4352"/>
          <a:stretch/>
        </p:blipFill>
        <p:spPr>
          <a:xfrm>
            <a:off x="22453671" y="27040978"/>
            <a:ext cx="6638492" cy="8894386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3A81528F-106C-C76E-AE70-FF653911894B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4352" r="11447"/>
          <a:stretch/>
        </p:blipFill>
        <p:spPr>
          <a:xfrm>
            <a:off x="14932888" y="27040978"/>
            <a:ext cx="7472701" cy="8894386"/>
          </a:xfrm>
          <a:prstGeom prst="rect">
            <a:avLst/>
          </a:prstGeom>
        </p:spPr>
      </p:pic>
      <p:sp>
        <p:nvSpPr>
          <p:cNvPr id="8" name="Text Box 4">
            <a:extLst>
              <a:ext uri="{FF2B5EF4-FFF2-40B4-BE49-F238E27FC236}">
                <a16:creationId xmlns:a16="http://schemas.microsoft.com/office/drawing/2014/main" id="{D791AF78-7B66-65F8-910D-2D05996623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08030" y="22099701"/>
            <a:ext cx="9195619" cy="47652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69B4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B2A5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B2A51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r>
              <a:rPr kumimoji="0" lang="en-US" sz="3600" b="1" i="0" u="none" strike="noStrike" cap="none" normalizeH="0" baseline="0" dirty="0">
                <a:ln>
                  <a:noFill/>
                </a:ln>
                <a:solidFill>
                  <a:srgbClr val="002F5D"/>
                </a:solidFill>
                <a:effectLst/>
                <a:latin typeface="Open Sans" panose="020B0606030504020204" pitchFamily="34" charset="0"/>
              </a:rPr>
              <a:t>2.4 Experiments</a:t>
            </a:r>
            <a:endParaRPr kumimoji="0" lang="en-US" sz="4600" b="1" i="0" u="none" strike="noStrike" cap="none" normalizeH="0" baseline="0" dirty="0">
              <a:ln>
                <a:noFill/>
              </a:ln>
              <a:solidFill>
                <a:srgbClr val="002F5D"/>
              </a:solidFill>
              <a:effectLst/>
              <a:latin typeface="Open Sans" panose="020B0606030504020204" pitchFamily="34" charset="0"/>
            </a:endParaRPr>
          </a:p>
          <a:p>
            <a:pPr algn="just"/>
            <a:endParaRPr lang="en-US" dirty="0"/>
          </a:p>
          <a:p>
            <a:pPr marL="342900" indent="-342900" algn="just">
              <a:buFont typeface="Symbol" panose="05050102010706020507" pitchFamily="18" charset="2"/>
              <a:buChar char="-"/>
            </a:pPr>
            <a:r>
              <a:rPr lang="en-US" sz="2400" dirty="0"/>
              <a:t>Three training scenarios were compared to evaluate the data augmentation method:    </a:t>
            </a:r>
          </a:p>
          <a:p>
            <a:pPr marL="800100" lvl="1" indent="-342900" algn="just">
              <a:buFont typeface="Symbol" panose="05050102010706020507" pitchFamily="18" charset="2"/>
              <a:buChar char="-"/>
            </a:pPr>
            <a:r>
              <a:rPr lang="en-US" sz="2400" dirty="0"/>
              <a:t>No-Sim: without simulated data    </a:t>
            </a:r>
          </a:p>
          <a:p>
            <a:pPr marL="800100" lvl="1" indent="-342900" algn="just">
              <a:buFont typeface="Symbol" panose="05050102010706020507" pitchFamily="18" charset="2"/>
              <a:buChar char="-"/>
            </a:pPr>
            <a:r>
              <a:rPr lang="en-US" sz="2400" dirty="0"/>
              <a:t>Sim-Vox: with simulated data from a </a:t>
            </a:r>
            <a:r>
              <a:rPr lang="en-US" sz="2400" dirty="0" err="1"/>
              <a:t>voxelized</a:t>
            </a:r>
            <a:r>
              <a:rPr lang="en-US" sz="2400" dirty="0"/>
              <a:t> scene </a:t>
            </a:r>
          </a:p>
          <a:p>
            <a:pPr marL="800100" lvl="1" indent="-342900" algn="just">
              <a:buFont typeface="Symbol" panose="05050102010706020507" pitchFamily="18" charset="2"/>
              <a:buChar char="-"/>
            </a:pPr>
            <a:r>
              <a:rPr lang="en-US" sz="2400" dirty="0"/>
              <a:t>Sim-Mesh-Vox: with simulated data from a meshed and </a:t>
            </a:r>
            <a:r>
              <a:rPr lang="en-US" sz="2400" dirty="0" err="1"/>
              <a:t>voxelized</a:t>
            </a:r>
            <a:r>
              <a:rPr lang="en-US" sz="2400" dirty="0"/>
              <a:t> scene</a:t>
            </a:r>
          </a:p>
          <a:p>
            <a:pPr marL="342900" indent="-342900" algn="just">
              <a:buFont typeface="Symbol" panose="05050102010706020507" pitchFamily="18" charset="2"/>
              <a:buChar char="-"/>
            </a:pPr>
            <a:r>
              <a:rPr lang="en-US" sz="2400" dirty="0"/>
              <a:t>Three models were trained per scenario to account for variability in weight initialization and gradient descent</a:t>
            </a:r>
          </a:p>
          <a:p>
            <a:pPr marL="342900" indent="-342900" algn="just">
              <a:buFont typeface="Symbol" panose="05050102010706020507" pitchFamily="18" charset="2"/>
              <a:buChar char="-"/>
            </a:pPr>
            <a:r>
              <a:rPr lang="en-US" sz="2400" dirty="0"/>
              <a:t>Blocks were sampled rigidly for consistency, despite the potential accuracy gain from random sampling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7D8B330-A438-D687-5B9A-4089138D67A6}"/>
              </a:ext>
            </a:extLst>
          </p:cNvPr>
          <p:cNvSpPr txBox="1"/>
          <p:nvPr/>
        </p:nvSpPr>
        <p:spPr>
          <a:xfrm>
            <a:off x="1021556" y="16046187"/>
            <a:ext cx="7391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b="1" dirty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 Methods</a:t>
            </a:r>
          </a:p>
        </p:txBody>
      </p:sp>
      <p:sp>
        <p:nvSpPr>
          <p:cNvPr id="13" name="CuadroTexto 26">
            <a:extLst>
              <a:ext uri="{FF2B5EF4-FFF2-40B4-BE49-F238E27FC236}">
                <a16:creationId xmlns:a16="http://schemas.microsoft.com/office/drawing/2014/main" id="{9CFAFAB7-12A5-C501-CAFB-FF5D27E70103}"/>
              </a:ext>
            </a:extLst>
          </p:cNvPr>
          <p:cNvSpPr txBox="1"/>
          <p:nvPr/>
        </p:nvSpPr>
        <p:spPr>
          <a:xfrm>
            <a:off x="8998676" y="35488936"/>
            <a:ext cx="55693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a-ES" sz="2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Figure 3: </a:t>
            </a:r>
            <a:r>
              <a:rPr lang="ca-E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Average, maximum and minimum of Mean F1-Score</a:t>
            </a:r>
          </a:p>
        </p:txBody>
      </p:sp>
      <p:sp>
        <p:nvSpPr>
          <p:cNvPr id="14" name="CuadroTexto 26">
            <a:extLst>
              <a:ext uri="{FF2B5EF4-FFF2-40B4-BE49-F238E27FC236}">
                <a16:creationId xmlns:a16="http://schemas.microsoft.com/office/drawing/2014/main" id="{EC270C4E-D400-0A04-461C-720D2F5BE51B}"/>
              </a:ext>
            </a:extLst>
          </p:cNvPr>
          <p:cNvSpPr txBox="1"/>
          <p:nvPr/>
        </p:nvSpPr>
        <p:spPr>
          <a:xfrm>
            <a:off x="14932889" y="35942330"/>
            <a:ext cx="141592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a-ES" sz="2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Figure 4: </a:t>
            </a: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Average confusion matrices (left: No-Sim, right: Sim-Mesh-Vox)</a:t>
            </a:r>
            <a:endParaRPr lang="ca-ES" sz="2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5" name="CuadroTexto 26">
            <a:extLst>
              <a:ext uri="{FF2B5EF4-FFF2-40B4-BE49-F238E27FC236}">
                <a16:creationId xmlns:a16="http://schemas.microsoft.com/office/drawing/2014/main" id="{D187FE12-0FE9-7E16-C99D-8242025374E8}"/>
              </a:ext>
            </a:extLst>
          </p:cNvPr>
          <p:cNvSpPr txBox="1"/>
          <p:nvPr/>
        </p:nvSpPr>
        <p:spPr>
          <a:xfrm>
            <a:off x="12460567" y="15225235"/>
            <a:ext cx="166315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a-ES" sz="2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Figure 1: </a:t>
            </a:r>
            <a:r>
              <a:rPr lang="ca-E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Data augmentation with VLS</a:t>
            </a:r>
          </a:p>
        </p:txBody>
      </p:sp>
    </p:spTree>
    <p:extLst>
      <p:ext uri="{BB962C8B-B14F-4D97-AF65-F5344CB8AC3E}">
        <p14:creationId xmlns:p14="http://schemas.microsoft.com/office/powerpoint/2010/main" val="1205871828"/>
      </p:ext>
    </p:extLst>
  </p:cSld>
  <p:clrMapOvr>
    <a:masterClrMapping/>
  </p:clrMapOvr>
</p:sld>
</file>

<file path=ppt/theme/theme1.xml><?xml version="1.0" encoding="utf-8"?>
<a:theme xmlns:a="http://schemas.openxmlformats.org/drawingml/2006/main" name="TUD_Powerpoint">
  <a:themeElements>
    <a:clrScheme name="TUD_2021-08_blau">
      <a:dk1>
        <a:srgbClr val="000000"/>
      </a:dk1>
      <a:lt1>
        <a:sysClr val="window" lastClr="FFFFFF"/>
      </a:lt1>
      <a:dk2>
        <a:srgbClr val="727277"/>
      </a:dk2>
      <a:lt2>
        <a:srgbClr val="FFFFFF"/>
      </a:lt2>
      <a:accent1>
        <a:srgbClr val="00305D"/>
      </a:accent1>
      <a:accent2>
        <a:srgbClr val="0069B4"/>
      </a:accent2>
      <a:accent3>
        <a:srgbClr val="009FE3"/>
      </a:accent3>
      <a:accent4>
        <a:srgbClr val="0077AE"/>
      </a:accent4>
      <a:accent5>
        <a:srgbClr val="00A1D9"/>
      </a:accent5>
      <a:accent6>
        <a:srgbClr val="84CFED"/>
      </a:accent6>
      <a:hlink>
        <a:srgbClr val="0069B4"/>
      </a:hlink>
      <a:folHlink>
        <a:srgbClr val="009FE3"/>
      </a:folHlink>
    </a:clrScheme>
    <a:fontScheme name="TUD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2-03_TUD_Poster_DIN A0_Hochformat_ENG.potx" id="{91421AF1-999A-4A15-AD6A-75BF009439BD}" vid="{CFE49C1E-2264-4C08-8AA3-53FD1A07D9C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2022-04_TUD_Poster_DIN-A0_Hochformat_ENG</Template>
  <TotalTime>345</TotalTime>
  <Words>787</Words>
  <Application>Microsoft Office PowerPoint</Application>
  <PresentationFormat>Custom</PresentationFormat>
  <Paragraphs>66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Open Sans</vt:lpstr>
      <vt:lpstr>Open Sans Semibold</vt:lpstr>
      <vt:lpstr>Symbol</vt:lpstr>
      <vt:lpstr>TUD_Powerpoint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54a40cb3, 8b5bf070</dc:creator>
  <cp:lastModifiedBy>Matzke, Felix Rocco</cp:lastModifiedBy>
  <cp:revision>23</cp:revision>
  <dcterms:created xsi:type="dcterms:W3CDTF">2025-02-03T23:44:48Z</dcterms:created>
  <dcterms:modified xsi:type="dcterms:W3CDTF">2025-02-05T15:44:54Z</dcterms:modified>
</cp:coreProperties>
</file>