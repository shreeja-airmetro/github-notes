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934BD-D825-49DF-AF98-4EEE89DCD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7DBF77-C04C-4B40-94B6-F59BCF1D5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2F7C67-1C78-49A1-9D59-5483BD47B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8B5ABF-4ECF-4A73-990B-FE55849D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782488-9295-48AD-A8F1-45C4C340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3D04CE-2651-4ED4-8EB3-AF245BF1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047477-5ABC-4D82-8365-92503A049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B8E88E-7655-4629-91D0-E395ED42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4AC33D-6AF0-44DD-9EF6-2B262E4D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1EB23-5C64-47FC-9BD6-0AF07DF8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A86BF-E4FC-4FEE-92DD-1CFA7224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93C20B-87C9-427B-9CD7-0E0EF46D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8E1CFE-0FFD-45B3-84E7-71BEED6D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A0714A-3833-4A03-B76F-4DFEFACC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FCAE79-DC75-47DB-83DB-97433950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2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B26B2-4217-4213-90BE-C473B4AC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E38338-164F-4392-9DB2-4D9678D4C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05329E-557C-4D98-9B1E-D9963CCDC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482064-7E15-4B5C-913C-8F51657F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3D121A-C7A8-4BC0-963F-32F2E7A0B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F5EDCF-6592-4292-8FBB-4F24ABCF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7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5EFB7-256D-4C5E-B965-42D92C22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23B9AF-DA7C-491D-84BC-231CFB991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78067F-F5E5-4EE0-95B3-91106F36C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FB069EE-2FD6-44AC-BC20-373E17EC3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3420EC-ACA6-4E3A-8C2E-70DF73176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F8A9D3-46EC-4A7E-865F-47D669336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DE3C26-CEE9-40A4-86D9-5BFC8745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8B6DA6-38DF-460A-B28D-8FF85EBF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7A7458-6280-4CC3-B339-43B9D614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8D4F12-FBFE-4E32-8B2A-C8C3A3D72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9BF649-795E-4353-82D2-5FE9D90F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D0528D-4BB4-4A1F-B822-275D347B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0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F6D2832-E7B9-4A64-ABE5-7A3BCA9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E4B4E4-B4A1-4F6F-BBFF-D46BB7F4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052B5F-8B00-4141-949D-4D294FBE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8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6A958-F61E-4CEA-8500-90850DCF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0A697-E96C-42E7-9BE7-712DA3098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0E07B6-CC26-4401-9F27-2564D80ED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1E9972-87A5-4D9C-AB43-0C70A114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71B145-E5CA-432B-9A95-97573B22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AABAFA-88F4-4030-A6F8-87922A2F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8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64B84-EB9C-4323-B08B-EF3BBC1A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6E5B15A-DB56-4531-8CD1-098194043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F1258F-9CA5-459F-A84F-0AFD1A366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9785FB-37D2-418E-A22E-B75837A7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AF6708-BEE9-43F2-BC7E-D506B277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206B9F-4927-4CAC-AA76-F8A74F92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999E9-186D-460C-865F-DC96D978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1C7FFA-E255-41C7-9BD9-102DB7103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19735F-1805-4566-AEE1-25C396C6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F3E761-88F4-4AC1-B8AC-AA19FC6F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9047D-533A-480E-96C7-5E7E239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3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B21EA49-12AE-45B3-B990-272CDC952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3E1F8E-D873-47DD-9D1B-995393F33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1F44F8-BF16-41BA-81F5-A9C056C6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2BBEDA-D0AC-4FBB-9950-524802DC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CD8B66-A798-4733-815F-EAC63299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4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84BD4B-FBE0-4592-845C-D5A408BB9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50A375-0E44-4D4B-A644-B4D8C0337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546B15-7CDF-4F4A-9E1C-D331EBAE3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4C876-CADB-4166-AF32-7BF6DBDB2D55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D6C1A4-1FAA-44B3-A36F-C02D088CF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09F4C-7586-4280-BE7E-D66FE9C71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56950-D249-4185-9663-D86873380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8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tudresdende.sharepoint.com/:x:/t/RTG2947AirMetro-HardwarePurchase/EftVbeoNY4JHjlx7e9EEA2wB1IZBHKU_AA-9b-qoE6qH5g?e=CbCfL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3547C-517D-42B0-BA62-3395B2C6B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56092"/>
            <a:ext cx="9144000" cy="725755"/>
          </a:xfrm>
        </p:spPr>
        <p:txBody>
          <a:bodyPr>
            <a:normAutofit/>
          </a:bodyPr>
          <a:lstStyle/>
          <a:p>
            <a:r>
              <a:rPr lang="en-US" sz="2000" dirty="0"/>
              <a:t>RTG 2947 AirMetro – Hardware Purchase List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760DCA-D1B1-49FD-A186-3E3DA1435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57" y="1698680"/>
            <a:ext cx="51625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3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C1F044-7836-4688-8F78-DE51F2F7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19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Guidelines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D67B9F-6E18-4751-8F64-3BD101A50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89" y="959476"/>
            <a:ext cx="10515600" cy="5352715"/>
          </a:xfrm>
        </p:spPr>
        <p:txBody>
          <a:bodyPr>
            <a:normAutofit/>
          </a:bodyPr>
          <a:lstStyle/>
          <a:p>
            <a:r>
              <a:rPr lang="en-US" sz="1400" dirty="0"/>
              <a:t>This document lists  </a:t>
            </a:r>
            <a:r>
              <a:rPr kumimoji="0" lang="de-DE" altLang="de-DE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RTG2947_AirMetro_Equipment_Purchase.xlsx</a:t>
            </a:r>
            <a:r>
              <a:rPr lang="de-DE" altLang="de-DE" sz="1400" dirty="0">
                <a:latin typeface="Arial" panose="020B0604020202020204" pitchFamily="34" charset="0"/>
              </a:rPr>
              <a:t> </a:t>
            </a:r>
            <a:r>
              <a:rPr lang="de-DE" altLang="de-DE" sz="1400" dirty="0" err="1">
                <a:latin typeface="Arial" panose="020B0604020202020204" pitchFamily="34" charset="0"/>
              </a:rPr>
              <a:t>is</a:t>
            </a:r>
            <a:r>
              <a:rPr lang="en-US" sz="1400" dirty="0"/>
              <a:t> the initial set of hardware equipment for data collection related to Topics T2, T5, T6, T8, T9, and T10. </a:t>
            </a:r>
          </a:p>
          <a:p>
            <a:r>
              <a:rPr lang="en-US" sz="1400" dirty="0"/>
              <a:t>The total price reflects only the cost of the goods and does not include shipping charges, customs and other charges.</a:t>
            </a:r>
          </a:p>
          <a:p>
            <a:r>
              <a:rPr lang="en-US" sz="1400" dirty="0"/>
              <a:t>Any unmentioned prices (highlighted in yellow) are pending quotations from the team.</a:t>
            </a:r>
          </a:p>
          <a:p>
            <a:r>
              <a:rPr lang="en-US" sz="1400" dirty="0"/>
              <a:t>Two purchasable links are provided for the commonly available Commercially Off-the-Shelf devices. </a:t>
            </a:r>
          </a:p>
          <a:p>
            <a:r>
              <a:rPr lang="en-US" sz="1400" dirty="0"/>
              <a:t>With single link specific to the company – will soon have a contact person information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Requirements </a:t>
            </a:r>
          </a:p>
          <a:p>
            <a:pPr>
              <a:buFontTx/>
              <a:buChar char="-"/>
            </a:pPr>
            <a:r>
              <a:rPr lang="en-US" sz="1400" dirty="0"/>
              <a:t>Workshop for assembling and testing drone setup is required</a:t>
            </a:r>
          </a:p>
          <a:p>
            <a:pPr>
              <a:buFontTx/>
              <a:buChar char="-"/>
            </a:pPr>
            <a:r>
              <a:rPr lang="en-US" sz="1400" dirty="0"/>
              <a:t>The regulations on the room with proper ventilation and fire safety required ( Battery storage)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1D3E95-3D78-4A23-8579-9C6EC5A24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69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33BB7-E1B2-405A-BEDE-3EF1B87E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0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DRONE DEVELOPMENT KIT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9035432-96EE-4CEA-949C-80FD06EFAAA5}"/>
              </a:ext>
            </a:extLst>
          </p:cNvPr>
          <p:cNvSpPr txBox="1"/>
          <p:nvPr/>
        </p:nvSpPr>
        <p:spPr>
          <a:xfrm>
            <a:off x="2170090" y="1223493"/>
            <a:ext cx="72057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Suitable for Mounting Payloads ( sensors, camera)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Easy to assemble setup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Storage and transportable boxes need to be considered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They have a Pixhawk based flight controller ( open source – suitable for research) </a:t>
            </a:r>
          </a:p>
          <a:p>
            <a:endParaRPr lang="en-US" sz="1600" dirty="0"/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149E496D-AC42-44CA-A136-99E79FDFA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392150"/>
              </p:ext>
            </p:extLst>
          </p:nvPr>
        </p:nvGraphicFramePr>
        <p:xfrm>
          <a:off x="2170090" y="2671406"/>
          <a:ext cx="81279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279519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958827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35782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01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Holybro x650 – (4kg)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8 (6+2)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7192$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2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Crazyflie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– Mini Swarm Bundle of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5950$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6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Premium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ModelBau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(7Kg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6799.90€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414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Prism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Cost requested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4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EmQopter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Cost Requested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01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27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5FCA1-9997-453B-8629-B8D8B05E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68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FLIGHT CONTROLLER 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67CBD950-E633-4F8C-9476-BECA5BF17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7310"/>
              </p:ext>
            </p:extLst>
          </p:nvPr>
        </p:nvGraphicFramePr>
        <p:xfrm>
          <a:off x="2347634" y="1598396"/>
          <a:ext cx="81279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488686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509248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53935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87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Pixhawk 6C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1157.99$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7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Pixhawk 6X Pro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1518$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6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Pixhawk Jetson Baseboard ( 4GB and 16GB)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6427.98$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44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Cube Orange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1059.80€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611314"/>
                  </a:ext>
                </a:extLst>
              </a:tr>
            </a:tbl>
          </a:graphicData>
        </a:graphic>
      </p:graphicFrame>
      <p:sp>
        <p:nvSpPr>
          <p:cNvPr id="6" name="Titel 1">
            <a:extLst>
              <a:ext uri="{FF2B5EF4-FFF2-40B4-BE49-F238E27FC236}">
                <a16:creationId xmlns:a16="http://schemas.microsoft.com/office/drawing/2014/main" id="{7E747AF8-B59E-4A8B-AD97-719EF3E96DCB}"/>
              </a:ext>
            </a:extLst>
          </p:cNvPr>
          <p:cNvSpPr txBox="1">
            <a:spLocks/>
          </p:cNvSpPr>
          <p:nvPr/>
        </p:nvSpPr>
        <p:spPr>
          <a:xfrm>
            <a:off x="591355" y="3721836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/>
              <a:t>BATTERY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D0A344-FFEE-4C38-966B-7CBDD922E654}"/>
              </a:ext>
            </a:extLst>
          </p:cNvPr>
          <p:cNvSpPr txBox="1"/>
          <p:nvPr/>
        </p:nvSpPr>
        <p:spPr>
          <a:xfrm>
            <a:off x="2595093" y="853071"/>
            <a:ext cx="7798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Individual flight controller for Hardware-in-loop and Software-in loop testing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Version versions of Pixhawk is to evaluate compatibility test with the sensors and camera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B036747-64CB-42D6-9787-778F47F346F0}"/>
              </a:ext>
            </a:extLst>
          </p:cNvPr>
          <p:cNvSpPr txBox="1"/>
          <p:nvPr/>
        </p:nvSpPr>
        <p:spPr>
          <a:xfrm>
            <a:off x="153795" y="3974061"/>
            <a:ext cx="11884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Battery Power needs to be re-considered based on power distribution requirements for payloads and drone (flight controller and motors)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Charging unit and a protective case is a primary requirement</a:t>
            </a:r>
          </a:p>
        </p:txBody>
      </p:sp>
      <p:graphicFrame>
        <p:nvGraphicFramePr>
          <p:cNvPr id="9" name="Tabelle 9">
            <a:extLst>
              <a:ext uri="{FF2B5EF4-FFF2-40B4-BE49-F238E27FC236}">
                <a16:creationId xmlns:a16="http://schemas.microsoft.com/office/drawing/2014/main" id="{34361A34-9942-4610-9A01-D179B9073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077391"/>
              </p:ext>
            </p:extLst>
          </p:nvPr>
        </p:nvGraphicFramePr>
        <p:xfrm>
          <a:off x="2347633" y="4637422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502262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01071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78939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53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Tattu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10000mAh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1368.18€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820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Tattu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12000mAh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1481.64€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6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09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3373359-E117-42BE-8B51-DB931D95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68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CAMERA   &amp; LiDAR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B45618F-5B7E-43FB-8E25-64B241E2E650}"/>
              </a:ext>
            </a:extLst>
          </p:cNvPr>
          <p:cNvSpPr txBox="1">
            <a:spLocks/>
          </p:cNvSpPr>
          <p:nvPr/>
        </p:nvSpPr>
        <p:spPr>
          <a:xfrm>
            <a:off x="320529" y="2976317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C8A3FF-3489-436A-9F4C-3117DE1DFAB0}"/>
              </a:ext>
            </a:extLst>
          </p:cNvPr>
          <p:cNvSpPr txBox="1"/>
          <p:nvPr/>
        </p:nvSpPr>
        <p:spPr>
          <a:xfrm>
            <a:off x="3651806" y="740629"/>
            <a:ext cx="5268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Camera  and LIDAR for SLAM (T5) and Ground sensing (T8)</a:t>
            </a:r>
          </a:p>
        </p:txBody>
      </p:sp>
      <p:graphicFrame>
        <p:nvGraphicFramePr>
          <p:cNvPr id="8" name="Tabelle 8">
            <a:extLst>
              <a:ext uri="{FF2B5EF4-FFF2-40B4-BE49-F238E27FC236}">
                <a16:creationId xmlns:a16="http://schemas.microsoft.com/office/drawing/2014/main" id="{D3C7604D-3741-47E4-A748-1EBD3FC52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17778"/>
              </p:ext>
            </p:extLst>
          </p:nvPr>
        </p:nvGraphicFramePr>
        <p:xfrm>
          <a:off x="482957" y="1270491"/>
          <a:ext cx="1081825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376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043792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606085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Genie Nano C2050 Color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9234$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Intel®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RealSense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™ Depth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D455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2514$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Intel®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RealSense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™ Depth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D435i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2004$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40163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CC56DED5-C7EF-499F-931C-118F17979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423203"/>
              </p:ext>
            </p:extLst>
          </p:nvPr>
        </p:nvGraphicFramePr>
        <p:xfrm>
          <a:off x="430368" y="3530108"/>
          <a:ext cx="1087084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614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623614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623614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Flash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Request for price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Blickfeld Qb2 (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Drone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use-case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Request for price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453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AA0E29A-BB13-4E10-8BBA-90C707FD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683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RTK/GNSS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A184CBB-A652-4BCD-9604-D0A0A9C1FFFB}"/>
              </a:ext>
            </a:extLst>
          </p:cNvPr>
          <p:cNvSpPr txBox="1">
            <a:spLocks/>
          </p:cNvSpPr>
          <p:nvPr/>
        </p:nvSpPr>
        <p:spPr>
          <a:xfrm>
            <a:off x="662389" y="2449914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COMMUNICATION</a:t>
            </a:r>
          </a:p>
        </p:txBody>
      </p:sp>
      <p:graphicFrame>
        <p:nvGraphicFramePr>
          <p:cNvPr id="6" name="Tabelle 8">
            <a:extLst>
              <a:ext uri="{FF2B5EF4-FFF2-40B4-BE49-F238E27FC236}">
                <a16:creationId xmlns:a16="http://schemas.microsoft.com/office/drawing/2014/main" id="{54508C53-89B6-4F21-B454-2DC8D19A7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256969"/>
              </p:ext>
            </p:extLst>
          </p:nvPr>
        </p:nvGraphicFramePr>
        <p:xfrm>
          <a:off x="1062508" y="1193312"/>
          <a:ext cx="10199193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31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399731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399731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H-RTK F9P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Ultralight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2639.40€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AdvanceNaviagtion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Certus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Mini D 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4805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</a:tbl>
          </a:graphicData>
        </a:graphic>
      </p:graphicFrame>
      <p:graphicFrame>
        <p:nvGraphicFramePr>
          <p:cNvPr id="7" name="Tabelle 8">
            <a:extLst>
              <a:ext uri="{FF2B5EF4-FFF2-40B4-BE49-F238E27FC236}">
                <a16:creationId xmlns:a16="http://schemas.microsoft.com/office/drawing/2014/main" id="{4E7E7A54-A211-4850-A659-9BFD0B9E5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65398"/>
              </p:ext>
            </p:extLst>
          </p:nvPr>
        </p:nvGraphicFramePr>
        <p:xfrm>
          <a:off x="904304" y="3018161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Meshmerize – Mesh Network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 Onboard modem + Ground APU terminals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Contacted for the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 Card  (Sierra Wireless, Deutsche Telecom)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60 € (service price not included)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SiK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Telemetry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radio|433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Mhz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 (set of transmitter and receiver)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353.94$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40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Raspberry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5G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modem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Exact cost requested ( 300-500$)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41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Sky-Drones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AirLink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3290$ (contacted for service price)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30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Sierra Wireless 5G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Contacted for the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48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Iridium Satellite Terminal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5000-7000€ (excluding airtime) – Contacted for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7632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7547382D-13BF-43EE-AF04-F156721AD350}"/>
              </a:ext>
            </a:extLst>
          </p:cNvPr>
          <p:cNvSpPr txBox="1"/>
          <p:nvPr/>
        </p:nvSpPr>
        <p:spPr>
          <a:xfrm>
            <a:off x="1568360" y="2725774"/>
            <a:ext cx="91988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Communication include cost for the equipment and the service – Monthly or Annually or air -time basis 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ACD60BB-EEE8-4EDB-8FC9-8A6F74313469}"/>
              </a:ext>
            </a:extLst>
          </p:cNvPr>
          <p:cNvSpPr txBox="1">
            <a:spLocks/>
          </p:cNvSpPr>
          <p:nvPr/>
        </p:nvSpPr>
        <p:spPr>
          <a:xfrm>
            <a:off x="664335" y="324342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COMPANION COMPUTER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5BF86DD-8662-4B56-8D13-DC4BDA565B47}"/>
              </a:ext>
            </a:extLst>
          </p:cNvPr>
          <p:cNvSpPr txBox="1">
            <a:spLocks/>
          </p:cNvSpPr>
          <p:nvPr/>
        </p:nvSpPr>
        <p:spPr>
          <a:xfrm>
            <a:off x="381000" y="2718739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REMOTE CONTROLLER</a:t>
            </a:r>
          </a:p>
        </p:txBody>
      </p:sp>
      <p:graphicFrame>
        <p:nvGraphicFramePr>
          <p:cNvPr id="6" name="Tabelle 8">
            <a:extLst>
              <a:ext uri="{FF2B5EF4-FFF2-40B4-BE49-F238E27FC236}">
                <a16:creationId xmlns:a16="http://schemas.microsoft.com/office/drawing/2014/main" id="{1894EC55-6986-4A8A-A56C-D9686ED45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255139"/>
              </p:ext>
            </p:extLst>
          </p:nvPr>
        </p:nvGraphicFramePr>
        <p:xfrm>
          <a:off x="1916090" y="967931"/>
          <a:ext cx="81279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Raspbery</a:t>
                      </a: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774$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Intel </a:t>
                      </a:r>
                      <a:r>
                        <a:rPr lang="en-US" dirty="0" err="1">
                          <a:solidFill>
                            <a:sysClr val="windowText" lastClr="000000"/>
                          </a:solidFill>
                        </a:rPr>
                        <a:t>NuC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 12 pro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3119.94$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Jetson Orin – 16GB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1989$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40163"/>
                  </a:ext>
                </a:extLst>
              </a:tr>
            </a:tbl>
          </a:graphicData>
        </a:graphic>
      </p:graphicFrame>
      <p:graphicFrame>
        <p:nvGraphicFramePr>
          <p:cNvPr id="7" name="Tabelle 8">
            <a:extLst>
              <a:ext uri="{FF2B5EF4-FFF2-40B4-BE49-F238E27FC236}">
                <a16:creationId xmlns:a16="http://schemas.microsoft.com/office/drawing/2014/main" id="{CB2FC30A-7175-4A0A-A2D6-0A57D59A9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46287"/>
              </p:ext>
            </p:extLst>
          </p:nvPr>
        </p:nvGraphicFramePr>
        <p:xfrm>
          <a:off x="1577661" y="3757849"/>
          <a:ext cx="9863784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928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287928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287928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TX16S MKII Carbon Fiber Black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1319.40$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SIYI MK15 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719.90$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3F008C18-D79C-4747-8A4A-316EBBF1FC17}"/>
              </a:ext>
            </a:extLst>
          </p:cNvPr>
          <p:cNvSpPr txBox="1"/>
          <p:nvPr/>
        </p:nvSpPr>
        <p:spPr>
          <a:xfrm>
            <a:off x="3649621" y="3069017"/>
            <a:ext cx="3746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For Visual Line of Sight Flight Operation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5608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5F788D8-AA85-43D9-B00D-A4A2BAEA006B}"/>
              </a:ext>
            </a:extLst>
          </p:cNvPr>
          <p:cNvSpPr txBox="1">
            <a:spLocks/>
          </p:cNvSpPr>
          <p:nvPr/>
        </p:nvSpPr>
        <p:spPr>
          <a:xfrm>
            <a:off x="928353" y="337221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MISCELLANEOUS TOOLS </a:t>
            </a:r>
          </a:p>
        </p:txBody>
      </p:sp>
      <p:graphicFrame>
        <p:nvGraphicFramePr>
          <p:cNvPr id="5" name="Tabelle 8">
            <a:extLst>
              <a:ext uri="{FF2B5EF4-FFF2-40B4-BE49-F238E27FC236}">
                <a16:creationId xmlns:a16="http://schemas.microsoft.com/office/drawing/2014/main" id="{EB6C325F-892B-4E65-B983-37C9A3A9A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043651"/>
              </p:ext>
            </p:extLst>
          </p:nvPr>
        </p:nvGraphicFramePr>
        <p:xfrm>
          <a:off x="1654578" y="1605437"/>
          <a:ext cx="9063150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050">
                  <a:extLst>
                    <a:ext uri="{9D8B030D-6E8A-4147-A177-3AD203B41FA5}">
                      <a16:colId xmlns:a16="http://schemas.microsoft.com/office/drawing/2014/main" val="2164107155"/>
                    </a:ext>
                  </a:extLst>
                </a:gridCol>
                <a:gridCol w="3021050">
                  <a:extLst>
                    <a:ext uri="{9D8B030D-6E8A-4147-A177-3AD203B41FA5}">
                      <a16:colId xmlns:a16="http://schemas.microsoft.com/office/drawing/2014/main" val="830959702"/>
                    </a:ext>
                  </a:extLst>
                </a:gridCol>
                <a:gridCol w="3021050">
                  <a:extLst>
                    <a:ext uri="{9D8B030D-6E8A-4147-A177-3AD203B41FA5}">
                      <a16:colId xmlns:a16="http://schemas.microsoft.com/office/drawing/2014/main" val="1414114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Units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Total 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62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Pixhawk Cables, Converter board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12 (together- various Pixhawk)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212.68$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73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Storage Devices (USB, SD card, Hard drive)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 each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344.72$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1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Soldering and Screw Drive kit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 each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299.98€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40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Foam pads , Mounting gimbal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100$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141446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5066F274-7C77-4631-955B-0C5A9BE5A508}"/>
              </a:ext>
            </a:extLst>
          </p:cNvPr>
          <p:cNvSpPr txBox="1"/>
          <p:nvPr/>
        </p:nvSpPr>
        <p:spPr>
          <a:xfrm>
            <a:off x="1096850" y="789373"/>
            <a:ext cx="9935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Aptos Narrow"/>
              </a:rPr>
              <a:t>Tools and additional equipment for the building drone and mounting payloads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242424"/>
                </a:solidFill>
                <a:latin typeface="Aptos Narrow"/>
              </a:rPr>
              <a:t>Some of the following equipment and cables (HDMI, Ethernet) need to be purchased during the course of testing</a:t>
            </a:r>
            <a:endParaRPr lang="en-US" sz="1600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03DF3AA5-887A-4C75-9AA6-04B0771B1B2D}"/>
              </a:ext>
            </a:extLst>
          </p:cNvPr>
          <p:cNvSpPr txBox="1">
            <a:spLocks/>
          </p:cNvSpPr>
          <p:nvPr/>
        </p:nvSpPr>
        <p:spPr>
          <a:xfrm>
            <a:off x="707266" y="4121464"/>
            <a:ext cx="10515600" cy="452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COMPUTER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117BC4-B267-4ADC-B5C4-95E520C62047}"/>
              </a:ext>
            </a:extLst>
          </p:cNvPr>
          <p:cNvSpPr txBox="1"/>
          <p:nvPr/>
        </p:nvSpPr>
        <p:spPr>
          <a:xfrm>
            <a:off x="984536" y="4574147"/>
            <a:ext cx="10222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A regular computer setup for Ground control station setup and data storage  (less RAM required)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High efficient JETSON with 24GB VRAM – A100, H100 Series for Data Processing (SLAM, Computer Vision, Point Cloud)</a:t>
            </a:r>
          </a:p>
        </p:txBody>
      </p:sp>
    </p:spTree>
    <p:extLst>
      <p:ext uri="{BB962C8B-B14F-4D97-AF65-F5344CB8AC3E}">
        <p14:creationId xmlns:p14="http://schemas.microsoft.com/office/powerpoint/2010/main" val="298197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9d36c4-082b-4c51-a7f1-adc1cb6791c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35A2E465989794094942E011D82027A" ma:contentTypeVersion="10" ma:contentTypeDescription="Ein neues Dokument erstellen." ma:contentTypeScope="" ma:versionID="680b089fa45741b8191a26bc877ac908">
  <xsd:schema xmlns:xsd="http://www.w3.org/2001/XMLSchema" xmlns:xs="http://www.w3.org/2001/XMLSchema" xmlns:p="http://schemas.microsoft.com/office/2006/metadata/properties" xmlns:ns3="0c9d36c4-082b-4c51-a7f1-adc1cb6791cd" targetNamespace="http://schemas.microsoft.com/office/2006/metadata/properties" ma:root="true" ma:fieldsID="d4755a8a2b37acb44b1b82d7d9d8cbcf" ns3:_="">
    <xsd:import namespace="0c9d36c4-082b-4c51-a7f1-adc1cb6791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d36c4-082b-4c51-a7f1-adc1cb6791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516BA8-5AE0-4317-9463-8A699F704C60}">
  <ds:schemaRefs>
    <ds:schemaRef ds:uri="http://schemas.openxmlformats.org/package/2006/metadata/core-properties"/>
    <ds:schemaRef ds:uri="0c9d36c4-082b-4c51-a7f1-adc1cb6791cd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3D2EE5A-393C-4CA6-B85A-8347AE6610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52E163-9A0E-4B24-B67D-2799E3E68A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9d36c4-082b-4c51-a7f1-adc1cb6791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</Words>
  <Application>Microsoft Office PowerPoint</Application>
  <PresentationFormat>Widescreen</PresentationFormat>
  <Paragraphs>167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Narrow</vt:lpstr>
      <vt:lpstr>Arial</vt:lpstr>
      <vt:lpstr>Calibri</vt:lpstr>
      <vt:lpstr>Calibri Light</vt:lpstr>
      <vt:lpstr>Office</vt:lpstr>
      <vt:lpstr>RTG 2947 AirMetro – Hardware Purchase List</vt:lpstr>
      <vt:lpstr>Guidelines</vt:lpstr>
      <vt:lpstr>DRONE DEVELOPMENT KIT </vt:lpstr>
      <vt:lpstr>FLIGHT CONTROLLER </vt:lpstr>
      <vt:lpstr>CAMERA   &amp; LiDAR</vt:lpstr>
      <vt:lpstr>RTK/GNSS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RTG 2947 AirMetro – Hardware Purchase List</dc:title>
  <dc:creator>Sridharan, Shreeja</dc:creator>
  <cp:lastModifiedBy>Sridharan, Shreeja</cp:lastModifiedBy>
  <cp:revision>8</cp:revision>
  <dcterms:created xsi:type="dcterms:W3CDTF">2024-09-30T08:25:51Z</dcterms:created>
  <dcterms:modified xsi:type="dcterms:W3CDTF">2025-03-17T12:34:33Z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0x010100435A2E465989794094942E011D82027A</vt:lpwstr>
  </property>
</Properties>
</file>